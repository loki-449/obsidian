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6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/>
    <p:restoredTop sz="94692"/>
  </p:normalViewPr>
  <p:slideViewPr>
    <p:cSldViewPr snapToGrid="0" snapToObjects="1">
      <p:cViewPr varScale="1">
        <p:scale>
          <a:sx n="54" d="100"/>
          <a:sy n="54" d="100"/>
        </p:scale>
        <p:origin x="28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2" name="Shape 1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1pPr>
            <a:lvl2pPr indent="2286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2pPr>
            <a:lvl3pPr indent="4572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3pPr>
            <a:lvl4pPr indent="6858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4pPr>
            <a:lvl5pPr indent="9144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1pPr>
            <a:lvl2pPr indent="2286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2pPr>
            <a:lvl3pPr indent="4572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3pPr>
            <a:lvl4pPr indent="6858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4pPr>
            <a:lvl5pPr indent="9144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3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8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1pPr>
            <a:lvl2pPr indent="2286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2pPr>
            <a:lvl3pPr indent="4572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3pPr>
            <a:lvl4pPr indent="6858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4pPr>
            <a:lvl5pPr indent="914400" defTabSz="821690">
              <a:defRPr sz="44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marL="617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1pPr>
            <a:lvl2pPr marL="10617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2pPr>
            <a:lvl3pPr marL="1506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3pPr>
            <a:lvl4pPr marL="19507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4pPr>
            <a:lvl5pPr marL="2395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6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defTabSz="821690">
              <a:defRPr sz="11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marL="465455" indent="-465455" algn="l" defTabSz="821690">
              <a:spcBef>
                <a:spcPts val="4500"/>
              </a:spcBef>
              <a:buSzPct val="75000"/>
              <a:buChar char="•"/>
              <a:defRPr sz="3800">
                <a:latin typeface="+mn-lt"/>
                <a:ea typeface="+mn-ea"/>
                <a:cs typeface="+mn-cs"/>
                <a:sym typeface="Helvetica Light"/>
              </a:defRPr>
            </a:lvl1pPr>
            <a:lvl2pPr marL="808355" indent="-465455" algn="l" defTabSz="821690">
              <a:spcBef>
                <a:spcPts val="4500"/>
              </a:spcBef>
              <a:buSzPct val="75000"/>
              <a:buChar char="•"/>
              <a:defRPr sz="3800">
                <a:latin typeface="+mn-lt"/>
                <a:ea typeface="+mn-ea"/>
                <a:cs typeface="+mn-cs"/>
                <a:sym typeface="Helvetica Light"/>
              </a:defRPr>
            </a:lvl2pPr>
            <a:lvl3pPr marL="1151255" indent="-465455" algn="l" defTabSz="821690">
              <a:spcBef>
                <a:spcPts val="4500"/>
              </a:spcBef>
              <a:buSzPct val="75000"/>
              <a:buChar char="•"/>
              <a:defRPr sz="3800">
                <a:latin typeface="+mn-lt"/>
                <a:ea typeface="+mn-ea"/>
                <a:cs typeface="+mn-cs"/>
                <a:sym typeface="Helvetica Light"/>
              </a:defRPr>
            </a:lvl3pPr>
            <a:lvl4pPr marL="1494155" indent="-465455" algn="l" defTabSz="821690">
              <a:spcBef>
                <a:spcPts val="4500"/>
              </a:spcBef>
              <a:buSzPct val="75000"/>
              <a:buChar char="•"/>
              <a:defRPr sz="3800">
                <a:latin typeface="+mn-lt"/>
                <a:ea typeface="+mn-ea"/>
                <a:cs typeface="+mn-cs"/>
                <a:sym typeface="Helvetica Light"/>
              </a:defRPr>
            </a:lvl4pPr>
            <a:lvl5pPr marL="1837055" indent="-465455" algn="l" defTabSz="821690">
              <a:spcBef>
                <a:spcPts val="4500"/>
              </a:spcBef>
              <a:buSzPct val="75000"/>
              <a:buChar char="•"/>
              <a:defRPr sz="38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>
            <a:normAutofit/>
          </a:bodyPr>
          <a:lstStyle>
            <a:lvl1pPr marL="617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1pPr>
            <a:lvl2pPr marL="10617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2pPr>
            <a:lvl3pPr marL="1506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3pPr>
            <a:lvl4pPr marL="19507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4pPr>
            <a:lvl5pPr marL="2395220" indent="-617220" algn="l" defTabSz="821690">
              <a:spcBef>
                <a:spcPts val="5900"/>
              </a:spcBef>
              <a:buSzPct val="75000"/>
              <a:buChar char="•"/>
              <a:defRPr sz="50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defTabSz="821690"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defTabSz="821690">
              <a:defRPr sz="52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1420093" cy="14287500"/>
          </a:xfrm>
          <a:prstGeom prst="rect">
            <a:avLst/>
          </a:prstGeom>
        </p:spPr>
        <p:txBody>
          <a:bodyPr lIns="91439" tIns="45719" rIns="91439" bIns="45719"/>
          <a:lstStyle/>
          <a:p/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11800"/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5000"/>
            </a:lvl1pPr>
            <a:lvl2pPr defTabSz="821690">
              <a:defRPr sz="5000"/>
            </a:lvl2pPr>
            <a:lvl3pPr defTabSz="821690">
              <a:defRPr sz="5000"/>
            </a:lvl3pPr>
            <a:lvl4pPr defTabSz="821690">
              <a:defRPr sz="5000"/>
            </a:lvl4pPr>
            <a:lvl5pPr defTabSz="821690">
              <a:defRPr sz="5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 lIns="71437" tIns="71437" rIns="71437" bIns="71437" anchor="ctr"/>
          <a:lstStyle>
            <a:lvl1pPr defTabSz="821690">
              <a:defRPr sz="11800"/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1106805" indent="-789305" algn="l" defTabSz="821690">
              <a:spcBef>
                <a:spcPts val="3300"/>
              </a:spcBef>
              <a:buSzPct val="171000"/>
              <a:buChar char="•"/>
              <a:defRPr sz="5800"/>
            </a:lvl1pPr>
            <a:lvl2pPr marL="1551305" indent="-789305" algn="l" defTabSz="821690">
              <a:spcBef>
                <a:spcPts val="3300"/>
              </a:spcBef>
              <a:buSzPct val="171000"/>
              <a:buChar char="•"/>
              <a:defRPr sz="5800"/>
            </a:lvl2pPr>
            <a:lvl3pPr marL="1995805" indent="-789305" algn="l" defTabSz="821690">
              <a:spcBef>
                <a:spcPts val="3300"/>
              </a:spcBef>
              <a:buSzPct val="171000"/>
              <a:buChar char="•"/>
              <a:defRPr sz="5800"/>
            </a:lvl3pPr>
            <a:lvl4pPr marL="2440305" indent="-789305" algn="l" defTabSz="821690">
              <a:spcBef>
                <a:spcPts val="3300"/>
              </a:spcBef>
              <a:buSzPct val="171000"/>
              <a:buChar char="•"/>
              <a:defRPr sz="5800"/>
            </a:lvl4pPr>
            <a:lvl5pPr marL="2884805" indent="-789305" algn="l" defTabSz="821690">
              <a:spcBef>
                <a:spcPts val="3300"/>
              </a:spcBef>
              <a:buSzPct val="171000"/>
              <a:buChar char="•"/>
              <a:defRPr sz="5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 lIns="71437" tIns="71437" rIns="71437" bIns="71437"/>
          <a:lstStyle>
            <a:lvl1pPr defTabSz="821690">
              <a:defRPr sz="2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14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3600"/>
            </a:lvl1pPr>
            <a:lvl2pPr defTabSz="584200">
              <a:defRPr sz="3600"/>
            </a:lvl2pPr>
            <a:lvl3pPr defTabSz="584200">
              <a:defRPr sz="3600"/>
            </a:lvl3pPr>
            <a:lvl4pPr defTabSz="584200">
              <a:defRPr sz="3600"/>
            </a:lvl4pPr>
            <a:lvl5pPr defTabSz="584200"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lIns="50800" tIns="50800" rIns="50800" bIns="50800">
            <a:normAutofit/>
          </a:bodyPr>
          <a:lstStyle>
            <a:lvl1pPr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lIns="50800" tIns="50800" rIns="50800" bIns="50800">
            <a:normAutofit/>
          </a:bodyPr>
          <a:lstStyle>
            <a:lvl1pPr defTabSz="584200">
              <a:defRPr sz="3200">
                <a:latin typeface="+mn-lt"/>
                <a:ea typeface="+mn-ea"/>
                <a:cs typeface="+mn-cs"/>
                <a:sym typeface="Helvetica Light"/>
              </a:defRPr>
            </a:lvl1pPr>
            <a:lvl2pPr indent="228600" defTabSz="584200">
              <a:defRPr sz="3200">
                <a:latin typeface="+mn-lt"/>
                <a:ea typeface="+mn-ea"/>
                <a:cs typeface="+mn-cs"/>
                <a:sym typeface="Helvetica Light"/>
              </a:defRPr>
            </a:lvl2pPr>
            <a:lvl3pPr indent="457200" defTabSz="584200">
              <a:defRPr sz="3200">
                <a:latin typeface="+mn-lt"/>
                <a:ea typeface="+mn-ea"/>
                <a:cs typeface="+mn-cs"/>
                <a:sym typeface="Helvetica Light"/>
              </a:defRPr>
            </a:lvl3pPr>
            <a:lvl4pPr indent="685800" defTabSz="584200">
              <a:defRPr sz="3200">
                <a:latin typeface="+mn-lt"/>
                <a:ea typeface="+mn-ea"/>
                <a:cs typeface="+mn-cs"/>
                <a:sym typeface="Helvetica Light"/>
              </a:defRPr>
            </a:lvl4pPr>
            <a:lvl5pPr indent="914400" defTabSz="584200">
              <a:defRPr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18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845724" y="3239802"/>
            <a:ext cx="20694552" cy="6529835"/>
          </a:xfrm>
          <a:prstGeom prst="rect">
            <a:avLst/>
          </a:prstGeom>
          <a:ln w="12700">
            <a:miter lim="400000"/>
          </a:ln>
        </p:spPr>
        <p:txBody>
          <a:bodyPr lIns="100458" tIns="100458" rIns="100458" bIns="100458" anchor="b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845724" y="9945439"/>
            <a:ext cx="20694552" cy="2235213"/>
          </a:xfrm>
          <a:prstGeom prst="rect">
            <a:avLst/>
          </a:prstGeom>
          <a:ln w="12700">
            <a:miter lim="400000"/>
          </a:ln>
        </p:spPr>
        <p:txBody>
          <a:bodyPr lIns="100458" tIns="100458" rIns="100458" bIns="10045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870433" y="18308649"/>
            <a:ext cx="620019" cy="658119"/>
          </a:xfrm>
          <a:prstGeom prst="rect">
            <a:avLst/>
          </a:prstGeom>
          <a:ln w="12700">
            <a:miter lim="400000"/>
          </a:ln>
        </p:spPr>
        <p:txBody>
          <a:bodyPr wrap="none" lIns="100458" tIns="100458" rIns="100458" bIns="100458">
            <a:spAutoFit/>
          </a:bodyPr>
          <a:lstStyle>
            <a:lvl1pPr defTabSz="1155065">
              <a:defRPr sz="32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2286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4572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6858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9144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11430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13716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6002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8288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4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3556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7112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0668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4224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0" i="0" u="none" strike="noStrike" cap="none" spc="0" baseline="0"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bodyStyle>
    <p:otherStyle>
      <a:lvl1pPr marL="0" marR="0" indent="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11550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16.tiff"/><Relationship Id="rId10" Type="http://schemas.openxmlformats.org/officeDocument/2006/relationships/image" Target="../media/image15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16.tiff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.png"/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image" Target="../media/image27.tif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3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50.png"/><Relationship Id="rId6" Type="http://schemas.openxmlformats.org/officeDocument/2006/relationships/image" Target="../media/image38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13.png"/><Relationship Id="rId2" Type="http://schemas.openxmlformats.org/officeDocument/2006/relationships/image" Target="../media/image59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Institute of Physics, Chinese Academy of Sciences"/>
          <p:cNvSpPr txBox="1"/>
          <p:nvPr/>
        </p:nvSpPr>
        <p:spPr>
          <a:xfrm>
            <a:off x="5370004" y="5935346"/>
            <a:ext cx="13643993" cy="815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4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Institute of Physics, Chinese Academy of Sciences</a:t>
            </a:r>
          </a:p>
        </p:txBody>
      </p:sp>
      <p:sp>
        <p:nvSpPr>
          <p:cNvPr id="165" name="Theory of high Tc nickelate superconductors &amp;…"/>
          <p:cNvSpPr txBox="1"/>
          <p:nvPr/>
        </p:nvSpPr>
        <p:spPr>
          <a:xfrm>
            <a:off x="1009403" y="1184656"/>
            <a:ext cx="22365193" cy="20986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lnSpc>
                <a:spcPct val="120000"/>
              </a:lnSpc>
              <a:defRPr sz="58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Theory of high T</a:t>
            </a:r>
            <a:r>
              <a:rPr baseline="-6000"/>
              <a:t>c</a:t>
            </a:r>
            <a:r>
              <a:t> nickelate superconductors &amp;</a:t>
            </a:r>
          </a:p>
          <a:p>
            <a:pPr>
              <a:lnSpc>
                <a:spcPct val="120000"/>
              </a:lnSpc>
              <a:defRPr sz="58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Possible upper limit of T</a:t>
            </a:r>
            <a:r>
              <a:rPr baseline="-6000"/>
              <a:t>c</a:t>
            </a:r>
            <a:r>
              <a:t> for unconventional superconductivity</a:t>
            </a:r>
          </a:p>
        </p:txBody>
      </p:sp>
      <p:sp>
        <p:nvSpPr>
          <p:cNvPr id="166" name="Yi-feng Yang"/>
          <p:cNvSpPr txBox="1"/>
          <p:nvPr/>
        </p:nvSpPr>
        <p:spPr>
          <a:xfrm>
            <a:off x="9903513" y="4395951"/>
            <a:ext cx="4576974" cy="1031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5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Yi-feng Yang</a:t>
            </a:r>
          </a:p>
        </p:txBody>
      </p:sp>
      <p:sp>
        <p:nvSpPr>
          <p:cNvPr id="167" name="Collaborators:…"/>
          <p:cNvSpPr txBox="1"/>
          <p:nvPr/>
        </p:nvSpPr>
        <p:spPr>
          <a:xfrm>
            <a:off x="7275716" y="8143434"/>
            <a:ext cx="9832567" cy="24923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 sz="4200">
                <a:latin typeface="Helvetica"/>
                <a:ea typeface="Helvetica"/>
                <a:cs typeface="Helvetica"/>
                <a:sym typeface="Helvetica"/>
              </a:defRPr>
            </a:pPr>
            <a:r>
              <a:t>Collaborators:</a:t>
            </a:r>
          </a:p>
          <a:p>
            <a:pPr>
              <a:lnSpc>
                <a:spcPct val="120000"/>
              </a:lnSpc>
              <a:defRPr sz="4200" i="1">
                <a:solidFill>
                  <a:srgbClr val="0433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FF2600"/>
                </a:solidFill>
              </a:rPr>
              <a:t>Qiong Qin, Jiangfan Wang, Yingying Cao</a:t>
            </a:r>
            <a:endParaRPr>
              <a:solidFill>
                <a:srgbClr val="FF2600"/>
              </a:solidFill>
            </a:endParaRPr>
          </a:p>
          <a:p>
            <a:pPr>
              <a:defRPr sz="4200" i="1">
                <a:solidFill>
                  <a:srgbClr val="0433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Guang-Ming Zhang, Fu-Chun Zhang</a:t>
            </a:r>
          </a:p>
        </p:txBody>
      </p:sp>
      <p:sp>
        <p:nvSpPr>
          <p:cNvPr id="168" name="Refs: npj Quantum Mater. 10, 13 (2025); The Innov. Mater. 2, 100102 (2024); CPL 42, 017301 (2025).…"/>
          <p:cNvSpPr txBox="1"/>
          <p:nvPr/>
        </p:nvSpPr>
        <p:spPr>
          <a:xfrm>
            <a:off x="832110" y="11557256"/>
            <a:ext cx="22719780" cy="1402347"/>
          </a:xfrm>
          <a:prstGeom prst="rect">
            <a:avLst/>
          </a:prstGeom>
          <a:ln w="12700">
            <a:miter lim="400000"/>
          </a:ln>
        </p:spPr>
        <p:txBody>
          <a:bodyPr wrap="none" lIns="100458" tIns="100458" rIns="100458" bIns="100458" anchor="ctr">
            <a:spAutoFit/>
          </a:bodyPr>
          <a:lstStyle/>
          <a:p>
            <a:pPr defTabSz="1155065">
              <a:lnSpc>
                <a:spcPct val="120000"/>
              </a:lnSpc>
              <a:defRPr sz="3600" i="1">
                <a:solidFill>
                  <a:srgbClr val="8728F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i="0">
                <a:latin typeface="+mn-lt"/>
                <a:ea typeface="+mn-ea"/>
                <a:cs typeface="+mn-cs"/>
                <a:sym typeface="Helvetica Light"/>
              </a:rPr>
              <a:t>Refs: </a:t>
            </a:r>
            <a:r>
              <a:rPr>
                <a:solidFill>
                  <a:srgbClr val="000000"/>
                </a:solidFill>
              </a:rPr>
              <a:t>npj Quantum Mater. 10, 13 (2025); The Innov. Mater. 2, 100102 (2024); CPL 42, 017301 (2025).</a:t>
            </a:r>
            <a:endParaRPr>
              <a:solidFill>
                <a:srgbClr val="000000"/>
              </a:solidFill>
            </a:endParaRPr>
          </a:p>
          <a:p>
            <a:pPr defTabSz="1155065">
              <a:lnSpc>
                <a:spcPct val="120000"/>
              </a:lnSpc>
              <a:defRPr sz="3600" i="1">
                <a:latin typeface="Helvetica"/>
                <a:ea typeface="Helvetica"/>
                <a:cs typeface="Helvetica"/>
                <a:sym typeface="Helvetica"/>
              </a:defRPr>
            </a:pPr>
            <a:r>
              <a:t>PRB 108, L140504 (2023);108, L201108(2023); 109, L081105 (2024); 110, 104507 (2024); 111, 014512 (2025).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Key questions on high Tc nickelates"/>
          <p:cNvSpPr txBox="1"/>
          <p:nvPr/>
        </p:nvSpPr>
        <p:spPr>
          <a:xfrm>
            <a:off x="2338545" y="157215"/>
            <a:ext cx="1970691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Key questions on high T</a:t>
            </a:r>
            <a:r>
              <a:rPr baseline="-6000"/>
              <a:t>c</a:t>
            </a:r>
            <a:r>
              <a:t> nickelates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71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q What is the minimal effective model?…"/>
          <p:cNvSpPr txBox="1"/>
          <p:nvPr/>
        </p:nvSpPr>
        <p:spPr>
          <a:xfrm>
            <a:off x="2908591" y="2960690"/>
            <a:ext cx="18566818" cy="7794620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lnSpc>
                <a:spcPct val="150000"/>
              </a:lnSpc>
              <a:defRPr sz="62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What is the minimal effective model?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What is the pairing mechanism &amp; pairing symmetry?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What determines the maximum T</a:t>
            </a:r>
            <a:r>
              <a:rPr baseline="-6000"/>
              <a:t>c</a:t>
            </a:r>
            <a:r>
              <a:t>?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Why is </a:t>
            </a:r>
            <a:r>
              <a:rPr i="1"/>
              <a:t>T</a:t>
            </a:r>
            <a:r>
              <a:rPr i="1" baseline="-6000"/>
              <a:t>c</a:t>
            </a:r>
            <a:r>
              <a:t> reduced from bilayer to trilayer nickelates?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043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How to explain the non-Fermi liquid normal state?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What can we learn from nickelates?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DFT+DMFT: Flat bands promoted by Hund coupling"/>
          <p:cNvSpPr txBox="1"/>
          <p:nvPr/>
        </p:nvSpPr>
        <p:spPr>
          <a:xfrm>
            <a:off x="2338545" y="157215"/>
            <a:ext cx="1970691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DFT+DMFT: Flat bands promoted by Hund coupling</a:t>
            </a:r>
          </a:p>
        </p:txBody>
      </p:sp>
      <p:pic>
        <p:nvPicPr>
          <p:cNvPr id="175" name="fig2.pdf" descr="fig2.pdf"/>
          <p:cNvPicPr>
            <a:picLocks noChangeAspect="1"/>
          </p:cNvPicPr>
          <p:nvPr/>
        </p:nvPicPr>
        <p:blipFill>
          <a:blip r:embed="rId1"/>
          <a:srcRect b="46073"/>
          <a:stretch>
            <a:fillRect/>
          </a:stretch>
        </p:blipFill>
        <p:spPr>
          <a:xfrm>
            <a:off x="378927" y="2494004"/>
            <a:ext cx="11788407" cy="5683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6" name="Y. Cao &amp; YF, PRB 109, L081105 (2024); arXiv:2307.06806"/>
          <p:cNvSpPr txBox="1"/>
          <p:nvPr/>
        </p:nvSpPr>
        <p:spPr>
          <a:xfrm>
            <a:off x="263282" y="1640841"/>
            <a:ext cx="9890888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Y. Cao &amp; YF, PRB 109, L081105 (2024); arXiv:2307.06806</a:t>
            </a:r>
          </a:p>
        </p:txBody>
      </p:sp>
      <p:sp>
        <p:nvSpPr>
          <p:cNvPr id="177" name="Orbital-dependent mass enhancement due to Hund…"/>
          <p:cNvSpPr txBox="1"/>
          <p:nvPr/>
        </p:nvSpPr>
        <p:spPr>
          <a:xfrm>
            <a:off x="786744" y="9165680"/>
            <a:ext cx="12900248" cy="21621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Orbital-dependent mass enhancement due to Hund</a:t>
            </a:r>
          </a:p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Flat d</a:t>
            </a:r>
            <a:r>
              <a:rPr baseline="-6000"/>
              <a:t>z2</a:t>
            </a:r>
            <a:r>
              <a:t> bands (hybridized with) dispersive d</a:t>
            </a:r>
            <a:r>
              <a:rPr baseline="-6000"/>
              <a:t>x2-y2</a:t>
            </a:r>
            <a:r>
              <a:t> bands</a:t>
            </a:r>
          </a:p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Local d</a:t>
            </a:r>
            <a:r>
              <a:rPr baseline="-6000"/>
              <a:t>z2</a:t>
            </a:r>
            <a:r>
              <a:t> moment with strong interlayer superexchange</a:t>
            </a:r>
          </a:p>
        </p:txBody>
      </p:sp>
      <p:pic>
        <p:nvPicPr>
          <p:cNvPr id="17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827" y="7630168"/>
            <a:ext cx="6010274" cy="59627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1" name="XJ Zhou et al."/>
          <p:cNvSpPr txBox="1"/>
          <p:nvPr/>
        </p:nvSpPr>
        <p:spPr>
          <a:xfrm>
            <a:off x="18818052" y="12992565"/>
            <a:ext cx="2485010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XJ Zhou et al.</a:t>
            </a:r>
          </a:p>
        </p:txBody>
      </p:sp>
      <p:pic>
        <p:nvPicPr>
          <p:cNvPr id="182" name="fig2.pdf" descr="fig2.pdf"/>
          <p:cNvPicPr>
            <a:picLocks noChangeAspect="1"/>
          </p:cNvPicPr>
          <p:nvPr/>
        </p:nvPicPr>
        <p:blipFill>
          <a:blip r:embed="rId1"/>
          <a:srcRect t="53779" r="51232"/>
          <a:stretch>
            <a:fillRect/>
          </a:stretch>
        </p:blipFill>
        <p:spPr>
          <a:xfrm>
            <a:off x="12329190" y="1893962"/>
            <a:ext cx="7037344" cy="59628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3" name="Rectangle"/>
          <p:cNvSpPr/>
          <p:nvPr/>
        </p:nvSpPr>
        <p:spPr>
          <a:xfrm>
            <a:off x="12967608" y="7766877"/>
            <a:ext cx="1052650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12256365" y="1583691"/>
            <a:ext cx="1052650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"/>
          <p:cNvSpPr/>
          <p:nvPr/>
        </p:nvSpPr>
        <p:spPr>
          <a:xfrm>
            <a:off x="-25063" y="2457359"/>
            <a:ext cx="1052650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186" name="fig3.pdf" descr="fig3.pdf"/>
          <p:cNvPicPr>
            <a:picLocks noChangeAspect="1"/>
          </p:cNvPicPr>
          <p:nvPr/>
        </p:nvPicPr>
        <p:blipFill>
          <a:blip r:embed="rId4"/>
          <a:srcRect l="51157" t="38622" b="30187"/>
          <a:stretch>
            <a:fillRect/>
          </a:stretch>
        </p:blipFill>
        <p:spPr>
          <a:xfrm>
            <a:off x="19817777" y="1593850"/>
            <a:ext cx="4318156" cy="339087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7" name="fig2.pdf" descr="fig2.pdf"/>
          <p:cNvPicPr>
            <a:picLocks noChangeAspect="1"/>
          </p:cNvPicPr>
          <p:nvPr/>
        </p:nvPicPr>
        <p:blipFill>
          <a:blip r:embed="rId1"/>
          <a:srcRect l="49288" t="53187"/>
          <a:stretch>
            <a:fillRect/>
          </a:stretch>
        </p:blipFill>
        <p:spPr>
          <a:xfrm>
            <a:off x="20092019" y="5073020"/>
            <a:ext cx="3667845" cy="302694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8" name="fig4.pdf" descr="fig4.pdf"/>
          <p:cNvPicPr>
            <a:picLocks noChangeAspect="1"/>
          </p:cNvPicPr>
          <p:nvPr/>
        </p:nvPicPr>
        <p:blipFill>
          <a:blip r:embed="rId5"/>
          <a:srcRect t="39750"/>
          <a:stretch>
            <a:fillRect/>
          </a:stretch>
        </p:blipFill>
        <p:spPr>
          <a:xfrm>
            <a:off x="19447701" y="8188256"/>
            <a:ext cx="4318159" cy="27386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9" name="Rectangle"/>
          <p:cNvSpPr/>
          <p:nvPr/>
        </p:nvSpPr>
        <p:spPr>
          <a:xfrm>
            <a:off x="19528144" y="1597111"/>
            <a:ext cx="475440" cy="6875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90" name="Interlayer valence bonds &amp; hybridization &amp; Hund physics"/>
          <p:cNvSpPr txBox="1"/>
          <p:nvPr/>
        </p:nvSpPr>
        <p:spPr>
          <a:xfrm>
            <a:off x="1161662" y="12050585"/>
            <a:ext cx="11767084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>
              <a:defRPr sz="3600">
                <a:solidFill>
                  <a:srgbClr val="FF2600"/>
                </a:solidFill>
              </a:defRPr>
            </a:lvl1pPr>
          </a:lstStyle>
          <a:p>
            <a:r>
              <a:t>Interlayer valence bonds &amp; hybridization &amp; Hund physics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fig4.pdf" descr="fig4.pdf"/>
          <p:cNvPicPr>
            <a:picLocks noChangeAspect="1"/>
          </p:cNvPicPr>
          <p:nvPr/>
        </p:nvPicPr>
        <p:blipFill>
          <a:blip r:embed="rId1"/>
          <a:srcRect l="3161" b="49774"/>
          <a:stretch>
            <a:fillRect/>
          </a:stretch>
        </p:blipFill>
        <p:spPr>
          <a:xfrm>
            <a:off x="13299611" y="6029049"/>
            <a:ext cx="7836563" cy="50918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3" name="fig3.pdf" descr="fig3.pdf"/>
          <p:cNvPicPr>
            <a:picLocks noChangeAspect="1"/>
          </p:cNvPicPr>
          <p:nvPr/>
        </p:nvPicPr>
        <p:blipFill>
          <a:blip r:embed="rId2"/>
          <a:srcRect l="20222" r="17481"/>
          <a:stretch>
            <a:fillRect/>
          </a:stretch>
        </p:blipFill>
        <p:spPr>
          <a:xfrm>
            <a:off x="1493913" y="5961072"/>
            <a:ext cx="4957227" cy="31054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84" y="9339749"/>
            <a:ext cx="5491153" cy="103420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41" y="9189137"/>
            <a:ext cx="2704039" cy="1064171"/>
          </a:xfrm>
          <a:prstGeom prst="rect">
            <a:avLst/>
          </a:prstGeom>
          <a:ln w="12700">
            <a:solidFill>
              <a:srgbClr val="000000"/>
            </a:solidFill>
            <a:miter lim="400000"/>
            <a:headEnd/>
            <a:tailEnd/>
          </a:ln>
        </p:spPr>
      </p:pic>
      <p:sp>
        <p:nvSpPr>
          <p:cNvPr id="196" name="Minimal t-V-J model, two-component theory of SC, and maximum Tc"/>
          <p:cNvSpPr txBox="1"/>
          <p:nvPr/>
        </p:nvSpPr>
        <p:spPr>
          <a:xfrm>
            <a:off x="857703" y="157215"/>
            <a:ext cx="22668593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Minimal t-V-J model, two-component theory of SC, and maximum T</a:t>
            </a:r>
            <a:r>
              <a:rPr baseline="-6000"/>
              <a:t>c</a:t>
            </a:r>
            <a:endParaRPr baseline="-6000"/>
          </a:p>
        </p:txBody>
      </p:sp>
      <p:pic>
        <p:nvPicPr>
          <p:cNvPr id="19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8" name="fig1.pdf" descr="fig1.pdf"/>
          <p:cNvPicPr>
            <a:picLocks noChangeAspect="1"/>
          </p:cNvPicPr>
          <p:nvPr/>
        </p:nvPicPr>
        <p:blipFill>
          <a:blip r:embed="rId6"/>
          <a:srcRect r="49536"/>
          <a:stretch>
            <a:fillRect/>
          </a:stretch>
        </p:blipFill>
        <p:spPr>
          <a:xfrm>
            <a:off x="13038024" y="2550246"/>
            <a:ext cx="2276074" cy="2242811"/>
          </a:xfrm>
          <a:prstGeom prst="rect">
            <a:avLst/>
          </a:prstGeom>
          <a:ln w="25400">
            <a:miter lim="400000"/>
            <a:headEnd/>
            <a:tailEnd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pic>
        <p:nvPicPr>
          <p:cNvPr id="199" name="fig2.pdf" descr="fig2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6103" y="2336252"/>
            <a:ext cx="3928787" cy="2456736"/>
          </a:xfrm>
          <a:prstGeom prst="rect">
            <a:avLst/>
          </a:prstGeom>
          <a:ln w="25400">
            <a:miter lim="400000"/>
            <a:headEnd/>
            <a:tailEnd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sp>
        <p:nvSpPr>
          <p:cNvPr id="200" name="Two-component composite pairing"/>
          <p:cNvSpPr txBox="1"/>
          <p:nvPr/>
        </p:nvSpPr>
        <p:spPr>
          <a:xfrm>
            <a:off x="419201" y="5485833"/>
            <a:ext cx="8905470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marL="345440" indent="-345440" algn="l">
              <a:buSzPct val="65000"/>
              <a:buBlip>
                <a:blip r:embed="rId8"/>
              </a:buBlip>
              <a:defRPr sz="4200"/>
            </a:lvl1pPr>
          </a:lstStyle>
          <a:p>
            <a:r>
              <a:t> Two-component composite pairing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9"/>
          <a:srcRect l="61670" t="88235" r="24395" b="1263"/>
          <a:stretch>
            <a:fillRect/>
          </a:stretch>
        </p:blipFill>
        <p:spPr>
          <a:xfrm>
            <a:off x="20879637" y="5467338"/>
            <a:ext cx="3542822" cy="10542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YF, G-M Zhang, F-C Zhang, PRB 108, L201108 (2023)"/>
          <p:cNvSpPr txBox="1"/>
          <p:nvPr/>
        </p:nvSpPr>
        <p:spPr>
          <a:xfrm>
            <a:off x="14973252" y="1522924"/>
            <a:ext cx="9339200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YF, G-M Zhang, F-C Zhang, PRB 108, L201108 (2023)</a:t>
            </a:r>
          </a:p>
        </p:txBody>
      </p:sp>
      <p:sp>
        <p:nvSpPr>
          <p:cNvPr id="203" name="Minimal t-V-J model"/>
          <p:cNvSpPr txBox="1"/>
          <p:nvPr/>
        </p:nvSpPr>
        <p:spPr>
          <a:xfrm>
            <a:off x="124333" y="1551941"/>
            <a:ext cx="5332756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marL="345440" indent="-345440" algn="l">
              <a:buSzPct val="65000"/>
              <a:buBlip>
                <a:blip r:embed="rId8"/>
              </a:buBlip>
              <a:defRPr sz="4200"/>
            </a:lvl1pPr>
          </a:lstStyle>
          <a:p>
            <a:r>
              <a:t> Minimal t-V-J model</a:t>
            </a:r>
          </a:p>
        </p:txBody>
      </p:sp>
      <p:pic>
        <p:nvPicPr>
          <p:cNvPr id="204" name="fig1.pdf" descr="fig1.pdf"/>
          <p:cNvPicPr>
            <a:picLocks noChangeAspect="1"/>
          </p:cNvPicPr>
          <p:nvPr/>
        </p:nvPicPr>
        <p:blipFill>
          <a:blip r:embed="rId6"/>
          <a:srcRect l="52326"/>
          <a:stretch>
            <a:fillRect/>
          </a:stretch>
        </p:blipFill>
        <p:spPr>
          <a:xfrm>
            <a:off x="21162410" y="7495935"/>
            <a:ext cx="2977311" cy="31054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5" name="Q. Qin &amp; YF, PRB 108, L140504 (2023)"/>
          <p:cNvSpPr txBox="1"/>
          <p:nvPr/>
        </p:nvSpPr>
        <p:spPr>
          <a:xfrm>
            <a:off x="16992816" y="11333085"/>
            <a:ext cx="7264325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Q. Qin &amp; YF, PRB 108, L140504 (2023) </a:t>
            </a:r>
          </a:p>
        </p:txBody>
      </p:sp>
      <p:pic>
        <p:nvPicPr>
          <p:cNvPr id="206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1405" y="2558095"/>
            <a:ext cx="9782412" cy="275686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Rectangle"/>
          <p:cNvSpPr/>
          <p:nvPr/>
        </p:nvSpPr>
        <p:spPr>
          <a:xfrm>
            <a:off x="12755753" y="6295749"/>
            <a:ext cx="562119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208" name="TwoImpurityKondo.tiff" descr="TwoImpurityKondo.tif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8747" y="5058833"/>
            <a:ext cx="3400168" cy="3400167"/>
          </a:xfrm>
          <a:prstGeom prst="rect">
            <a:avLst/>
          </a:prstGeom>
          <a:ln w="25400"/>
        </p:spPr>
      </p:pic>
      <p:sp>
        <p:nvSpPr>
          <p:cNvPr id="209" name="Auxiliary-field MC simulations…"/>
          <p:cNvSpPr txBox="1"/>
          <p:nvPr/>
        </p:nvSpPr>
        <p:spPr>
          <a:xfrm>
            <a:off x="14928733" y="5357305"/>
            <a:ext cx="5596361" cy="1060332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Auxiliary-field MC simulations</a:t>
            </a:r>
          </a:p>
          <a:p>
            <a:pPr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r>
              <a:t>(Moderate U, no </a:t>
            </a:r>
            <a:r>
              <a:rPr b="0">
                <a:latin typeface="STIX Two Math Regular"/>
                <a:ea typeface="STIX Two Math Regular"/>
                <a:cs typeface="STIX Two Math Regular"/>
                <a:sym typeface="STIX Two Math Regular"/>
              </a:rPr>
              <a:t>𝛄</a:t>
            </a:r>
            <a:r>
              <a:t> pocket)</a:t>
            </a:r>
          </a:p>
        </p:txBody>
      </p:sp>
      <p:sp>
        <p:nvSpPr>
          <p:cNvPr id="210" name="dz2 for pairing interaction, dx2-y2 for phase coherence…"/>
          <p:cNvSpPr txBox="1"/>
          <p:nvPr/>
        </p:nvSpPr>
        <p:spPr>
          <a:xfrm>
            <a:off x="342120" y="10428112"/>
            <a:ext cx="23699760" cy="327342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d</a:t>
            </a:r>
            <a:r>
              <a:rPr baseline="-6000"/>
              <a:t>z2</a:t>
            </a:r>
            <a:r>
              <a:t> for pairing interaction, d</a:t>
            </a:r>
            <a:r>
              <a:rPr baseline="-6000"/>
              <a:t>x2-y2</a:t>
            </a:r>
            <a:r>
              <a:t> for phase coherence</a:t>
            </a:r>
          </a:p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s</a:t>
            </a:r>
            <a:r>
              <a:rPr baseline="32000"/>
              <a:t>+-</a:t>
            </a:r>
            <a:r>
              <a:t> gap with nodes or minima along zone diagonal on 𝜶/𝜷</a:t>
            </a:r>
          </a:p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Maximum T</a:t>
            </a:r>
            <a:r>
              <a:rPr baseline="-6000"/>
              <a:t>c</a:t>
            </a:r>
            <a:r>
              <a:t>≈0.04-0.05J gives 70-90 K for J~150 meV (RIXS/INS); promoted by uniaxial pressure</a:t>
            </a:r>
          </a:p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Reduced Tc in thin films, possibly due to the reduced J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Highly asymmetric Tc curve and non-Fermi liquid upon hole doping"/>
          <p:cNvSpPr txBox="1"/>
          <p:nvPr/>
        </p:nvSpPr>
        <p:spPr>
          <a:xfrm>
            <a:off x="307841" y="157215"/>
            <a:ext cx="23768318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Highly asymmetric T</a:t>
            </a:r>
            <a:r>
              <a:rPr baseline="-6000"/>
              <a:t>c</a:t>
            </a:r>
            <a:r>
              <a:t> curve and non-Fermi liquid upon hole doping</a:t>
            </a:r>
          </a:p>
        </p:txBody>
      </p:sp>
      <p:sp>
        <p:nvSpPr>
          <p:cNvPr id="213" name="Critical hole doping (large U) &amp; highly asymmetric Tc curve…"/>
          <p:cNvSpPr txBox="1"/>
          <p:nvPr/>
        </p:nvSpPr>
        <p:spPr>
          <a:xfrm>
            <a:off x="11008601" y="11129383"/>
            <a:ext cx="13045019" cy="21621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Critical hole doping (large U) &amp; highly asymmetric T</a:t>
            </a:r>
            <a:r>
              <a:rPr baseline="-6000"/>
              <a:t>c</a:t>
            </a:r>
            <a:r>
              <a:t> curve</a:t>
            </a:r>
          </a:p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Pseudogap &amp; strange metallicity also obtained above T</a:t>
            </a:r>
            <a:r>
              <a:rPr baseline="-6000"/>
              <a:t>c</a:t>
            </a:r>
            <a:endParaRPr baseline="-6000"/>
          </a:p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rPr baseline="-6000"/>
              <a:t> </a:t>
            </a:r>
            <a:r>
              <a:t>How about moderate U? (work in progress)</a:t>
            </a:r>
          </a:p>
        </p:txBody>
      </p:sp>
      <p:sp>
        <p:nvSpPr>
          <p:cNvPr id="214" name="Rectangle"/>
          <p:cNvSpPr/>
          <p:nvPr/>
        </p:nvSpPr>
        <p:spPr>
          <a:xfrm>
            <a:off x="5192213" y="9495525"/>
            <a:ext cx="1571905" cy="2517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215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6" name="Rectangle"/>
          <p:cNvSpPr/>
          <p:nvPr/>
        </p:nvSpPr>
        <p:spPr>
          <a:xfrm>
            <a:off x="9435704" y="2750537"/>
            <a:ext cx="475441" cy="3399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7" name="J. Wang &amp; YF, PRB 111, 014512 (2025)."/>
          <p:cNvSpPr txBox="1"/>
          <p:nvPr/>
        </p:nvSpPr>
        <p:spPr>
          <a:xfrm>
            <a:off x="55587" y="1583691"/>
            <a:ext cx="6890513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J. Wang &amp; YF, PRB 111, 014512 (2025).</a:t>
            </a:r>
          </a:p>
        </p:txBody>
      </p:sp>
      <p:pic>
        <p:nvPicPr>
          <p:cNvPr id="21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23" y="2679967"/>
            <a:ext cx="9771496" cy="66580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4" y="8799737"/>
            <a:ext cx="4690158" cy="45995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829" y="2616973"/>
            <a:ext cx="11312563" cy="81933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1" name="M Wang et al."/>
          <p:cNvSpPr txBox="1"/>
          <p:nvPr/>
        </p:nvSpPr>
        <p:spPr>
          <a:xfrm>
            <a:off x="20783343" y="10292605"/>
            <a:ext cx="2491868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 Wang et al.</a:t>
            </a:r>
          </a:p>
        </p:txBody>
      </p:sp>
      <p:sp>
        <p:nvSpPr>
          <p:cNvPr id="222" name="Rectangle"/>
          <p:cNvSpPr/>
          <p:nvPr/>
        </p:nvSpPr>
        <p:spPr>
          <a:xfrm>
            <a:off x="-299937" y="8754930"/>
            <a:ext cx="1052651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23" name="Schwinger boson approach to treat both SC and interlayer valence bonds (large U)"/>
          <p:cNvSpPr txBox="1"/>
          <p:nvPr/>
        </p:nvSpPr>
        <p:spPr>
          <a:xfrm>
            <a:off x="8173676" y="1510521"/>
            <a:ext cx="15462911" cy="12350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algn="l">
              <a:defRPr sz="3600"/>
            </a:lvl1pPr>
          </a:lstStyle>
          <a:p>
            <a:r>
              <a:t>Schwinger boson approach to treat both SC and interlayer valence bonds (large U)</a:t>
            </a:r>
          </a:p>
        </p:txBody>
      </p:sp>
      <p:pic>
        <p:nvPicPr>
          <p:cNvPr id="22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310" y="9236677"/>
            <a:ext cx="5791201" cy="4368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674118" y="4335364"/>
            <a:ext cx="203201" cy="787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674118" y="4513164"/>
            <a:ext cx="203201" cy="787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8" name="Kondo effect and Fano interference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Kondo effect and Fano interference</a:t>
            </a:r>
          </a:p>
        </p:txBody>
      </p:sp>
      <p:sp>
        <p:nvSpPr>
          <p:cNvPr id="229" name="Rectangle"/>
          <p:cNvSpPr/>
          <p:nvPr/>
        </p:nvSpPr>
        <p:spPr>
          <a:xfrm>
            <a:off x="5192213" y="9495525"/>
            <a:ext cx="1571905" cy="2517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2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1" name="Rectangle"/>
          <p:cNvSpPr/>
          <p:nvPr/>
        </p:nvSpPr>
        <p:spPr>
          <a:xfrm>
            <a:off x="9435704" y="2750537"/>
            <a:ext cx="475441" cy="3399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232" name="Image" descr="Image"/>
          <p:cNvPicPr>
            <a:picLocks noChangeAspect="1"/>
          </p:cNvPicPr>
          <p:nvPr/>
        </p:nvPicPr>
        <p:blipFill>
          <a:blip r:embed="rId3"/>
          <a:srcRect b="49428"/>
          <a:stretch>
            <a:fillRect/>
          </a:stretch>
        </p:blipFill>
        <p:spPr>
          <a:xfrm>
            <a:off x="5201588" y="4335473"/>
            <a:ext cx="8909135" cy="76959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3" name="Image" descr="Image"/>
          <p:cNvPicPr>
            <a:picLocks noChangeAspect="1"/>
          </p:cNvPicPr>
          <p:nvPr/>
        </p:nvPicPr>
        <p:blipFill>
          <a:blip r:embed="rId3"/>
          <a:srcRect t="51188"/>
          <a:stretch>
            <a:fillRect/>
          </a:stretch>
        </p:blipFill>
        <p:spPr>
          <a:xfrm>
            <a:off x="13984617" y="4785299"/>
            <a:ext cx="8691068" cy="724626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4" name="Image" descr="Image"/>
          <p:cNvPicPr/>
          <p:nvPr/>
        </p:nvPicPr>
        <p:blipFill>
          <a:blip r:embed="rId4"/>
          <a:srcRect b="66437"/>
          <a:stretch>
            <a:fillRect/>
          </a:stretch>
        </p:blipFill>
        <p:spPr>
          <a:xfrm rot="16200000">
            <a:off x="1313256" y="3830822"/>
            <a:ext cx="475499" cy="197424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5" name="Image" descr="Image"/>
          <p:cNvPicPr/>
          <p:nvPr/>
        </p:nvPicPr>
        <p:blipFill>
          <a:blip r:embed="rId4"/>
          <a:srcRect b="65918"/>
          <a:stretch>
            <a:fillRect/>
          </a:stretch>
        </p:blipFill>
        <p:spPr>
          <a:xfrm rot="5400000">
            <a:off x="1433816" y="3815571"/>
            <a:ext cx="5332809" cy="20047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6" name="TwoImpurityKondo.tiff" descr="TwoImpurityKondo.tiff"/>
          <p:cNvPicPr/>
          <p:nvPr/>
        </p:nvPicPr>
        <p:blipFill>
          <a:blip r:embed="rId5"/>
          <a:srcRect b="64773"/>
          <a:stretch>
            <a:fillRect/>
          </a:stretch>
        </p:blipFill>
        <p:spPr>
          <a:xfrm rot="19200000">
            <a:off x="1015698" y="28231"/>
            <a:ext cx="1070278" cy="3150275"/>
          </a:xfrm>
          <a:prstGeom prst="rect">
            <a:avLst/>
          </a:prstGeom>
          <a:ln w="25400"/>
        </p:spPr>
      </p:pic>
      <p:sp>
        <p:nvSpPr>
          <p:cNvPr id="251" name="Connection Line"/>
          <p:cNvSpPr/>
          <p:nvPr/>
        </p:nvSpPr>
        <p:spPr>
          <a:xfrm>
            <a:off x="1084239" y="2094333"/>
            <a:ext cx="608654" cy="2160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070" h="21600" extrusionOk="0">
                <a:moveTo>
                  <a:pt x="17070" y="21600"/>
                </a:moveTo>
                <a:cubicBezTo>
                  <a:pt x="-552" y="14652"/>
                  <a:pt x="-4530" y="7452"/>
                  <a:pt x="5135" y="0"/>
                </a:cubicBezTo>
              </a:path>
            </a:pathLst>
          </a:custGeom>
          <a:ln w="76200">
            <a:solidFill>
              <a:srgbClr val="FF2600"/>
            </a:solidFill>
            <a:miter lim="400000"/>
            <a:headEnd type="stealth"/>
          </a:ln>
        </p:spPr>
        <p:txBody>
          <a:bodyPr/>
          <a:lstStyle/>
          <a:p/>
        </p:txBody>
      </p:sp>
      <p:sp>
        <p:nvSpPr>
          <p:cNvPr id="252" name="Connection Line"/>
          <p:cNvSpPr/>
          <p:nvPr/>
        </p:nvSpPr>
        <p:spPr>
          <a:xfrm>
            <a:off x="2418046" y="1811601"/>
            <a:ext cx="1387034" cy="1786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7325" y="10701"/>
                  <a:pt x="10125" y="3501"/>
                  <a:pt x="0" y="0"/>
                </a:cubicBezTo>
              </a:path>
            </a:pathLst>
          </a:custGeom>
          <a:ln w="76200">
            <a:solidFill>
              <a:srgbClr val="0433FF"/>
            </a:solidFill>
            <a:miter lim="400000"/>
            <a:headEnd type="stealth"/>
          </a:ln>
        </p:spPr>
        <p:txBody>
          <a:bodyPr/>
          <a:lstStyle/>
          <a:p/>
        </p:txBody>
      </p:sp>
      <p:sp>
        <p:nvSpPr>
          <p:cNvPr id="239" name="dz2…"/>
          <p:cNvSpPr txBox="1"/>
          <p:nvPr/>
        </p:nvSpPr>
        <p:spPr>
          <a:xfrm>
            <a:off x="290617" y="5018537"/>
            <a:ext cx="2654936" cy="1108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d</a:t>
            </a:r>
            <a:r>
              <a:rPr baseline="-6000"/>
              <a:t>z2</a:t>
            </a:r>
            <a:endParaRPr baseline="-6000"/>
          </a:p>
          <a:p>
            <a:pPr>
              <a:defRPr sz="3200"/>
            </a:pPr>
            <a:r>
              <a:t>narrow bands</a:t>
            </a:r>
          </a:p>
        </p:txBody>
      </p:sp>
      <p:sp>
        <p:nvSpPr>
          <p:cNvPr id="240" name="Possible Fano interfore in quasiparticle tunneling"/>
          <p:cNvSpPr txBox="1"/>
          <p:nvPr/>
        </p:nvSpPr>
        <p:spPr>
          <a:xfrm>
            <a:off x="8586698" y="12381137"/>
            <a:ext cx="11058875" cy="815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lvl1pPr>
          </a:lstStyle>
          <a:p>
            <a:r>
              <a:t> Possible Fano interfore in quasiparticle tunneling</a:t>
            </a:r>
          </a:p>
        </p:txBody>
      </p:sp>
      <p:sp>
        <p:nvSpPr>
          <p:cNvPr id="241" name="Rectangle"/>
          <p:cNvSpPr/>
          <p:nvPr/>
        </p:nvSpPr>
        <p:spPr>
          <a:xfrm>
            <a:off x="13938346" y="4443697"/>
            <a:ext cx="1052650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"/>
          <p:cNvSpPr/>
          <p:nvPr/>
        </p:nvSpPr>
        <p:spPr>
          <a:xfrm>
            <a:off x="5233763" y="4443697"/>
            <a:ext cx="1052650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3" name="Rectangle"/>
          <p:cNvSpPr/>
          <p:nvPr/>
        </p:nvSpPr>
        <p:spPr>
          <a:xfrm>
            <a:off x="18062872" y="7780837"/>
            <a:ext cx="3079422" cy="187435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4" name="like in heavy fermion systems…"/>
          <p:cNvSpPr txBox="1"/>
          <p:nvPr/>
        </p:nvSpPr>
        <p:spPr>
          <a:xfrm>
            <a:off x="12715454" y="3068312"/>
            <a:ext cx="7052997" cy="128079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lnSpc>
                <a:spcPct val="120000"/>
              </a:lnSpc>
              <a:defRPr sz="3600"/>
            </a:pPr>
            <a:r>
              <a:t>like in heavy fermion systems</a:t>
            </a:r>
          </a:p>
          <a:p>
            <a:pPr>
              <a:lnSpc>
                <a:spcPct val="120000"/>
              </a:lnSpc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YF, Phys. Rev. B 79, 241107(R) (2009)</a:t>
            </a:r>
          </a:p>
        </p:txBody>
      </p:sp>
      <p:sp>
        <p:nvSpPr>
          <p:cNvPr id="245" name="Rectangle"/>
          <p:cNvSpPr/>
          <p:nvPr/>
        </p:nvSpPr>
        <p:spPr>
          <a:xfrm>
            <a:off x="22376127" y="4443697"/>
            <a:ext cx="1052650" cy="92633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46" name="dx2-y2…"/>
          <p:cNvSpPr txBox="1"/>
          <p:nvPr/>
        </p:nvSpPr>
        <p:spPr>
          <a:xfrm>
            <a:off x="2458138" y="7088971"/>
            <a:ext cx="2496846" cy="1108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d</a:t>
            </a:r>
            <a:r>
              <a:rPr baseline="-6000"/>
              <a:t>x2-y2</a:t>
            </a:r>
            <a:endParaRPr baseline="-6000"/>
          </a:p>
          <a:p>
            <a:pPr>
              <a:defRPr sz="3200"/>
            </a:pPr>
            <a:r>
              <a:t>broad bands</a:t>
            </a:r>
          </a:p>
        </p:txBody>
      </p:sp>
      <p:pic>
        <p:nvPicPr>
          <p:cNvPr id="247" name="droppedImage.png" descr="dropped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463820" y="1639016"/>
            <a:ext cx="3727832" cy="3032813"/>
          </a:xfrm>
          <a:prstGeom prst="rect">
            <a:avLst/>
          </a:prstGeom>
          <a:ln w="25400">
            <a:miter lim="400000"/>
            <a:headEnd/>
            <a:tailEnd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sp>
        <p:nvSpPr>
          <p:cNvPr id="248" name="Rectangle"/>
          <p:cNvSpPr/>
          <p:nvPr/>
        </p:nvSpPr>
        <p:spPr>
          <a:xfrm>
            <a:off x="14096834" y="1895638"/>
            <a:ext cx="3733801" cy="889001"/>
          </a:xfrm>
          <a:prstGeom prst="rect">
            <a:avLst/>
          </a:prstGeom>
          <a:solidFill>
            <a:srgbClr val="F1C9FE"/>
          </a:solidFill>
          <a:ln w="12700">
            <a:miter lim="400000"/>
          </a:ln>
          <a:effectLst>
            <a:outerShdw blurRad="127000" dist="76200" dir="27000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pic>
        <p:nvPicPr>
          <p:cNvPr id="249" name="latexit-drag.pdf" descr="latexit-drag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9234" y="1971838"/>
            <a:ext cx="3441701" cy="7401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0" name="YF, CPL 42, 017301 (2025)."/>
          <p:cNvSpPr txBox="1"/>
          <p:nvPr/>
        </p:nvSpPr>
        <p:spPr>
          <a:xfrm>
            <a:off x="1302577" y="11729724"/>
            <a:ext cx="4807967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YF, CPL 42, 017301 (2025).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uppressed Andreev reflection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Suppressed Andreev reflection</a:t>
            </a:r>
          </a:p>
        </p:txBody>
      </p:sp>
      <p:sp>
        <p:nvSpPr>
          <p:cNvPr id="255" name="Andreev reflection is suppressed for weak interlayer hopping due to Gutzwiller constraint…"/>
          <p:cNvSpPr txBox="1"/>
          <p:nvPr/>
        </p:nvSpPr>
        <p:spPr>
          <a:xfrm>
            <a:off x="2347636" y="11160165"/>
            <a:ext cx="19688728" cy="1489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Andreev reflection is suppressed for weak interlayer hopping due to Gutzwiller constraint</a:t>
            </a:r>
          </a:p>
          <a:p>
            <a:pPr marL="233680" indent="-233680" algn="just" defTabSz="1285875">
              <a:buSzPct val="100000"/>
              <a:buChar char="➢"/>
              <a:defRPr sz="38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Systematic evolution under pressure or doping tuning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7" name="Rectangle"/>
          <p:cNvSpPr/>
          <p:nvPr/>
        </p:nvSpPr>
        <p:spPr>
          <a:xfrm>
            <a:off x="9435704" y="2750537"/>
            <a:ext cx="475441" cy="3399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2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649" y="2792532"/>
            <a:ext cx="9498418" cy="76240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5060" y="2335776"/>
            <a:ext cx="6050408" cy="44798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0" name="𝜸: full gap (+);…"/>
          <p:cNvSpPr txBox="1"/>
          <p:nvPr/>
        </p:nvSpPr>
        <p:spPr>
          <a:xfrm>
            <a:off x="1725544" y="7424214"/>
            <a:ext cx="6973078" cy="22764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algn="just" defTabSz="1285875">
              <a:defRPr sz="3600">
                <a:solidFill>
                  <a:srgbClr val="FF2600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𝜸: full gap (+); </a:t>
            </a:r>
          </a:p>
          <a:p>
            <a:pPr algn="just" defTabSz="1285875">
              <a:defRPr sz="3600">
                <a:solidFill>
                  <a:srgbClr val="FF2600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𝜶(+)/𝜷(-): s-wave gap with nodes/minima along zone diagonal</a:t>
            </a:r>
          </a:p>
        </p:txBody>
      </p:sp>
      <p:pic>
        <p:nvPicPr>
          <p:cNvPr id="261" name="fig1.pdf" descr="fig1.pdf"/>
          <p:cNvPicPr>
            <a:picLocks noChangeAspect="1"/>
          </p:cNvPicPr>
          <p:nvPr/>
        </p:nvPicPr>
        <p:blipFill>
          <a:blip r:embed="rId4"/>
          <a:srcRect l="52326"/>
          <a:stretch>
            <a:fillRect/>
          </a:stretch>
        </p:blipFill>
        <p:spPr>
          <a:xfrm>
            <a:off x="2515822" y="2684479"/>
            <a:ext cx="4130955" cy="430877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2" name="Rectangle"/>
          <p:cNvSpPr/>
          <p:nvPr/>
        </p:nvSpPr>
        <p:spPr>
          <a:xfrm>
            <a:off x="1957888" y="1583691"/>
            <a:ext cx="830778" cy="11612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3" name="Line"/>
          <p:cNvSpPr/>
          <p:nvPr/>
        </p:nvSpPr>
        <p:spPr>
          <a:xfrm>
            <a:off x="15812754" y="2340313"/>
            <a:ext cx="445444" cy="116455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264" name="Interlayer hopping scaling factor"/>
          <p:cNvSpPr txBox="1"/>
          <p:nvPr/>
        </p:nvSpPr>
        <p:spPr>
          <a:xfrm>
            <a:off x="12148000" y="1640841"/>
            <a:ext cx="6050408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r>
              <a:t>Interlayer hopping scaling factor</a:t>
            </a:r>
          </a:p>
        </p:txBody>
      </p:sp>
      <p:sp>
        <p:nvSpPr>
          <p:cNvPr id="271" name="Connection Line"/>
          <p:cNvSpPr/>
          <p:nvPr/>
        </p:nvSpPr>
        <p:spPr>
          <a:xfrm>
            <a:off x="20515529" y="3202877"/>
            <a:ext cx="426051" cy="1043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746" h="21600" extrusionOk="0">
                <a:moveTo>
                  <a:pt x="16746" y="21600"/>
                </a:moveTo>
                <a:cubicBezTo>
                  <a:pt x="-1550" y="14979"/>
                  <a:pt x="-4854" y="7779"/>
                  <a:pt x="6835" y="0"/>
                </a:cubicBezTo>
              </a:path>
            </a:pathLst>
          </a:custGeom>
          <a:ln w="76200">
            <a:solidFill>
              <a:srgbClr val="FF2600"/>
            </a:solidFill>
            <a:miter lim="400000"/>
            <a:headEnd type="stealth"/>
          </a:ln>
        </p:spPr>
        <p:txBody>
          <a:bodyPr/>
          <a:lstStyle/>
          <a:p/>
        </p:txBody>
      </p:sp>
      <p:sp>
        <p:nvSpPr>
          <p:cNvPr id="272" name="Connection Line"/>
          <p:cNvSpPr/>
          <p:nvPr/>
        </p:nvSpPr>
        <p:spPr>
          <a:xfrm>
            <a:off x="21164278" y="3296030"/>
            <a:ext cx="1362731" cy="30822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95" h="21600" extrusionOk="0">
                <a:moveTo>
                  <a:pt x="19664" y="21600"/>
                </a:moveTo>
                <a:cubicBezTo>
                  <a:pt x="21600" y="11604"/>
                  <a:pt x="15045" y="4404"/>
                  <a:pt x="0" y="0"/>
                </a:cubicBezTo>
              </a:path>
            </a:pathLst>
          </a:custGeom>
          <a:ln w="76200">
            <a:solidFill>
              <a:srgbClr val="0433FF"/>
            </a:solidFill>
            <a:miter lim="400000"/>
            <a:tailEnd type="stealth"/>
          </a:ln>
        </p:spPr>
        <p:txBody>
          <a:bodyPr/>
          <a:lstStyle/>
          <a:p/>
        </p:txBody>
      </p:sp>
      <p:sp>
        <p:nvSpPr>
          <p:cNvPr id="267" name="for small t⊥     self-doped hoels on dz2"/>
          <p:cNvSpPr txBox="1"/>
          <p:nvPr/>
        </p:nvSpPr>
        <p:spPr>
          <a:xfrm>
            <a:off x="15975896" y="10134232"/>
            <a:ext cx="7788222" cy="720983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/>
          <a:p>
            <a:pPr>
              <a:defRPr sz="3600">
                <a:solidFill>
                  <a:srgbClr val="FF2600"/>
                </a:solidFill>
              </a:defRPr>
            </a:pPr>
            <a:r>
              <a:t>for small t</a:t>
            </a:r>
            <a:r>
              <a:rPr baseline="-6000"/>
              <a:t>⊥</a:t>
            </a:r>
            <a:r>
              <a:t>    </a:t>
            </a:r>
            <a:r>
              <a: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rPr>
              <a:t> </a:t>
            </a:r>
            <a:r>
              <a:t>self-doped hoels on d</a:t>
            </a:r>
            <a:r>
              <a:rPr baseline="-6000"/>
              <a:t>z2</a:t>
            </a:r>
            <a:endParaRPr baseline="-6000"/>
          </a:p>
        </p:txBody>
      </p:sp>
      <p:sp>
        <p:nvSpPr>
          <p:cNvPr id="268" name="∝"/>
          <p:cNvSpPr txBox="1"/>
          <p:nvPr/>
        </p:nvSpPr>
        <p:spPr>
          <a:xfrm>
            <a:off x="18214383" y="10137536"/>
            <a:ext cx="660909" cy="8413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4600">
                <a:solidFill>
                  <a:srgbClr val="FF2600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Light"/>
              </a:defRPr>
            </a:pPr>
            <a:r>
              <a: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rPr>
              <a:t>∝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</p:txBody>
      </p:sp>
      <p:sp>
        <p:nvSpPr>
          <p:cNvPr id="269" name="How to compare with experiments by HH Wen et al. &amp; HQ Yuan et al.?"/>
          <p:cNvSpPr txBox="1"/>
          <p:nvPr/>
        </p:nvSpPr>
        <p:spPr>
          <a:xfrm>
            <a:off x="9261443" y="12830494"/>
            <a:ext cx="14427074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How to compare with experiments by HH Wen et al. &amp; HQ Yuan et al.?</a:t>
            </a:r>
          </a:p>
        </p:txBody>
      </p:sp>
      <p:sp>
        <p:nvSpPr>
          <p:cNvPr id="270" name="YF, CPL 42, 017301 (2025)."/>
          <p:cNvSpPr txBox="1"/>
          <p:nvPr/>
        </p:nvSpPr>
        <p:spPr>
          <a:xfrm>
            <a:off x="303233" y="1864275"/>
            <a:ext cx="4807967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YF, CPL 42, 017301 (2025).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"/>
          <p:cNvGrpSpPr/>
          <p:nvPr/>
        </p:nvGrpSpPr>
        <p:grpSpPr>
          <a:xfrm>
            <a:off x="10627842" y="5202756"/>
            <a:ext cx="1052650" cy="3480074"/>
            <a:chOff x="-63499" y="0"/>
            <a:chExt cx="1052649" cy="3480073"/>
          </a:xfrm>
        </p:grpSpPr>
        <p:pic>
          <p:nvPicPr>
            <p:cNvPr id="274" name="Image" descr="Image"/>
            <p:cNvPicPr>
              <a:picLocks noChangeAspect="1"/>
            </p:cNvPicPr>
            <p:nvPr/>
          </p:nvPicPr>
          <p:blipFill>
            <a:blip r:embed="rId1"/>
            <a:srcRect l="55341" b="10718"/>
            <a:stretch>
              <a:fillRect/>
            </a:stretch>
          </p:blipFill>
          <p:spPr>
            <a:xfrm>
              <a:off x="23565" y="1120984"/>
              <a:ext cx="931994" cy="111794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75" name="Image" descr="Image"/>
            <p:cNvPicPr>
              <a:picLocks noChangeAspect="1"/>
            </p:cNvPicPr>
            <p:nvPr/>
          </p:nvPicPr>
          <p:blipFill>
            <a:blip r:embed="rId1"/>
            <a:srcRect r="52602" b="10718"/>
            <a:stretch>
              <a:fillRect/>
            </a:stretch>
          </p:blipFill>
          <p:spPr>
            <a:xfrm>
              <a:off x="9" y="0"/>
              <a:ext cx="989141" cy="111794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sp>
          <p:nvSpPr>
            <p:cNvPr id="276" name="Line"/>
            <p:cNvSpPr/>
            <p:nvPr/>
          </p:nvSpPr>
          <p:spPr>
            <a:xfrm>
              <a:off x="0" y="559138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77" name="Line"/>
            <p:cNvSpPr/>
            <p:nvPr/>
          </p:nvSpPr>
          <p:spPr>
            <a:xfrm>
              <a:off x="0" y="619079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78" name="Line"/>
            <p:cNvSpPr/>
            <p:nvPr/>
          </p:nvSpPr>
          <p:spPr>
            <a:xfrm>
              <a:off x="0" y="1680122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79" name="Line"/>
            <p:cNvSpPr/>
            <p:nvPr/>
          </p:nvSpPr>
          <p:spPr>
            <a:xfrm>
              <a:off x="-63500" y="1740063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pic>
          <p:nvPicPr>
            <p:cNvPr id="280" name="Image" descr="Image"/>
            <p:cNvPicPr>
              <a:picLocks noChangeAspect="1"/>
            </p:cNvPicPr>
            <p:nvPr/>
          </p:nvPicPr>
          <p:blipFill>
            <a:blip r:embed="rId1"/>
            <a:srcRect r="52602" b="10718"/>
            <a:stretch>
              <a:fillRect/>
            </a:stretch>
          </p:blipFill>
          <p:spPr>
            <a:xfrm>
              <a:off x="-5019" y="2362130"/>
              <a:ext cx="989141" cy="111794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sp>
          <p:nvSpPr>
            <p:cNvPr id="281" name="Line"/>
            <p:cNvSpPr/>
            <p:nvPr/>
          </p:nvSpPr>
          <p:spPr>
            <a:xfrm>
              <a:off x="-5028" y="2981210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</p:grpSp>
      <p:pic>
        <p:nvPicPr>
          <p:cNvPr id="28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6" y="2569766"/>
            <a:ext cx="7979589" cy="22487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5" name="Bilayer La3Ni2O7:"/>
          <p:cNvSpPr txBox="1"/>
          <p:nvPr/>
        </p:nvSpPr>
        <p:spPr>
          <a:xfrm>
            <a:off x="109770" y="1617136"/>
            <a:ext cx="4083918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marL="345440" indent="-345440" algn="l">
              <a:buSzPct val="65000"/>
              <a:buBlip>
                <a:blip r:embed="rId4"/>
              </a:buBlip>
              <a:defRPr sz="3600"/>
            </a:pPr>
            <a:r>
              <a:t>Bilayer La</a:t>
            </a:r>
            <a:r>
              <a:rPr baseline="-6000"/>
              <a:t>3</a:t>
            </a:r>
            <a:r>
              <a:t>Ni</a:t>
            </a:r>
            <a:r>
              <a:rPr baseline="-6000"/>
              <a:t>2</a:t>
            </a:r>
            <a:r>
              <a:t>O</a:t>
            </a:r>
            <a:r>
              <a:rPr baseline="-6000"/>
              <a:t>7</a:t>
            </a:r>
            <a:r>
              <a:t>: </a:t>
            </a:r>
          </a:p>
        </p:txBody>
      </p:sp>
      <p:sp>
        <p:nvSpPr>
          <p:cNvPr id="286" name="Trilayer La4Ni3O10:"/>
          <p:cNvSpPr txBox="1"/>
          <p:nvPr/>
        </p:nvSpPr>
        <p:spPr>
          <a:xfrm>
            <a:off x="208646" y="5094175"/>
            <a:ext cx="4312822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marL="345440" indent="-345440" algn="l">
              <a:buSzPct val="65000"/>
              <a:buBlip>
                <a:blip r:embed="rId4"/>
              </a:buBlip>
              <a:defRPr sz="3600"/>
            </a:pPr>
            <a:r>
              <a:t>Trilayer La</a:t>
            </a:r>
            <a:r>
              <a:rPr baseline="-6000"/>
              <a:t>4</a:t>
            </a:r>
            <a:r>
              <a:t>Ni</a:t>
            </a:r>
            <a:r>
              <a:rPr baseline="-6000"/>
              <a:t>3</a:t>
            </a:r>
            <a:r>
              <a:t>O</a:t>
            </a:r>
            <a:r>
              <a:rPr baseline="-6000"/>
              <a:t>10</a:t>
            </a:r>
            <a:r>
              <a:t>: </a:t>
            </a:r>
          </a:p>
        </p:txBody>
      </p:sp>
      <p:pic>
        <p:nvPicPr>
          <p:cNvPr id="28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" y="6010026"/>
            <a:ext cx="10086097" cy="230803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94" name="Group"/>
          <p:cNvGrpSpPr/>
          <p:nvPr/>
        </p:nvGrpSpPr>
        <p:grpSpPr>
          <a:xfrm>
            <a:off x="8724271" y="2169836"/>
            <a:ext cx="1052650" cy="2238928"/>
            <a:chOff x="-63499" y="0"/>
            <a:chExt cx="1052649" cy="2238926"/>
          </a:xfrm>
        </p:grpSpPr>
        <p:pic>
          <p:nvPicPr>
            <p:cNvPr id="288" name="Image" descr="Image"/>
            <p:cNvPicPr>
              <a:picLocks noChangeAspect="1"/>
            </p:cNvPicPr>
            <p:nvPr/>
          </p:nvPicPr>
          <p:blipFill>
            <a:blip r:embed="rId1"/>
            <a:srcRect l="55341" b="10718"/>
            <a:stretch>
              <a:fillRect/>
            </a:stretch>
          </p:blipFill>
          <p:spPr>
            <a:xfrm>
              <a:off x="23565" y="1120984"/>
              <a:ext cx="931994" cy="111794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289" name="Image" descr="Image"/>
            <p:cNvPicPr>
              <a:picLocks noChangeAspect="1"/>
            </p:cNvPicPr>
            <p:nvPr/>
          </p:nvPicPr>
          <p:blipFill>
            <a:blip r:embed="rId1"/>
            <a:srcRect r="52602" b="10718"/>
            <a:stretch>
              <a:fillRect/>
            </a:stretch>
          </p:blipFill>
          <p:spPr>
            <a:xfrm>
              <a:off x="9" y="0"/>
              <a:ext cx="989141" cy="111794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sp>
          <p:nvSpPr>
            <p:cNvPr id="290" name="Line"/>
            <p:cNvSpPr/>
            <p:nvPr/>
          </p:nvSpPr>
          <p:spPr>
            <a:xfrm>
              <a:off x="0" y="559138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91" name="Line"/>
            <p:cNvSpPr/>
            <p:nvPr/>
          </p:nvSpPr>
          <p:spPr>
            <a:xfrm>
              <a:off x="0" y="619079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92" name="Line"/>
            <p:cNvSpPr/>
            <p:nvPr/>
          </p:nvSpPr>
          <p:spPr>
            <a:xfrm>
              <a:off x="0" y="1680122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  <p:sp>
          <p:nvSpPr>
            <p:cNvPr id="293" name="Line"/>
            <p:cNvSpPr/>
            <p:nvPr/>
          </p:nvSpPr>
          <p:spPr>
            <a:xfrm>
              <a:off x="-63500" y="1740063"/>
              <a:ext cx="989049" cy="1"/>
            </a:xfrm>
            <a:prstGeom prst="line">
              <a:avLst/>
            </a:prstGeom>
            <a:noFill/>
            <a:ln w="254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</a:p>
          </p:txBody>
        </p:sp>
      </p:grpSp>
      <p:pic>
        <p:nvPicPr>
          <p:cNvPr id="29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0628" y="3117849"/>
            <a:ext cx="393701" cy="3937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52795" y="6172621"/>
            <a:ext cx="622301" cy="3937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7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59145" y="7502843"/>
            <a:ext cx="609601" cy="3429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8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75756" y="3892662"/>
            <a:ext cx="3239641" cy="6254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9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19580" y="4971570"/>
            <a:ext cx="5530724" cy="544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0" name="Image" descr="Image"/>
          <p:cNvPicPr>
            <a:picLocks noChangeAspect="1"/>
          </p:cNvPicPr>
          <p:nvPr/>
        </p:nvPicPr>
        <p:blipFill>
          <a:blip r:embed="rId11"/>
          <a:srcRect t="1712" b="1712"/>
          <a:stretch>
            <a:fillRect/>
          </a:stretch>
        </p:blipFill>
        <p:spPr>
          <a:xfrm>
            <a:off x="468448" y="9551174"/>
            <a:ext cx="12046394" cy="39004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1" name="Q. Qin, J. Wang, &amp; YF, The Innov. Mater. 2, 100102 (2024)"/>
          <p:cNvSpPr txBox="1"/>
          <p:nvPr/>
        </p:nvSpPr>
        <p:spPr>
          <a:xfrm>
            <a:off x="12689291" y="1640841"/>
            <a:ext cx="10592741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Q. Qin, J. Wang, &amp; YF, The Innov. Mater. 2, 100102 (2024)</a:t>
            </a:r>
          </a:p>
        </p:txBody>
      </p:sp>
      <p:sp>
        <p:nvSpPr>
          <p:cNvPr id="302" name="Frustrated superconductivity in trilayer nickelate"/>
          <p:cNvSpPr txBox="1"/>
          <p:nvPr/>
        </p:nvSpPr>
        <p:spPr>
          <a:xfrm>
            <a:off x="3116201" y="100064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Frustrated superconductivity in trilayer nickelate</a:t>
            </a:r>
          </a:p>
        </p:txBody>
      </p:sp>
      <p:pic>
        <p:nvPicPr>
          <p:cNvPr id="303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45958" y="7380458"/>
            <a:ext cx="7585651" cy="872351"/>
          </a:xfrm>
          <a:prstGeom prst="rect">
            <a:avLst/>
          </a:prstGeom>
          <a:ln w="25400">
            <a:miter lim="400000"/>
            <a:headEnd/>
            <a:tailEnd/>
          </a:ln>
          <a:effectLst>
            <a:outerShdw blurRad="355600" dist="177800" dir="5400000" rotWithShape="0">
              <a:srgbClr val="000000">
                <a:alpha val="70000"/>
              </a:srgbClr>
            </a:outerShdw>
          </a:effectLst>
        </p:spPr>
      </p:pic>
      <p:pic>
        <p:nvPicPr>
          <p:cNvPr id="304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91547" y="8826921"/>
            <a:ext cx="3268183" cy="7160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5" name="Strong interlayer SC fluctuations"/>
          <p:cNvSpPr txBox="1"/>
          <p:nvPr/>
        </p:nvSpPr>
        <p:spPr>
          <a:xfrm>
            <a:off x="12988438" y="10519469"/>
            <a:ext cx="10500691" cy="1133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just" defTabSz="1285875">
              <a:lnSpc>
                <a:spcPct val="120000"/>
              </a:lnSpc>
              <a:defRPr sz="5600">
                <a:solidFill>
                  <a:srgbClr val="FF2600"/>
                </a:solidFill>
                <a:latin typeface="Yuanti SC Bold"/>
                <a:ea typeface="Yuanti SC Bold"/>
                <a:cs typeface="Yuanti SC Bold"/>
                <a:sym typeface="Yuanti SC Bold"/>
              </a:defRPr>
            </a:lvl1pPr>
          </a:lstStyle>
          <a:p>
            <a:r>
              <a:t>Strong interlayer SC fluctuations</a:t>
            </a:r>
          </a:p>
        </p:txBody>
      </p:sp>
      <p:sp>
        <p:nvSpPr>
          <p:cNvPr id="306" name="s± wave pairing with gap nodes or minima…"/>
          <p:cNvSpPr txBox="1"/>
          <p:nvPr/>
        </p:nvSpPr>
        <p:spPr>
          <a:xfrm>
            <a:off x="13518557" y="11708753"/>
            <a:ext cx="10171228" cy="17303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algn="l">
              <a:lnSpc>
                <a:spcPct val="150000"/>
              </a:lnSpc>
              <a:defRPr sz="4200">
                <a:solidFill>
                  <a:srgbClr val="0433FF"/>
                </a:solidFill>
              </a:defRPr>
            </a:pPr>
            <a:r>
              <a:t>s</a:t>
            </a:r>
            <a:r>
              <a:rPr baseline="32000"/>
              <a:t>±</a:t>
            </a:r>
            <a:r>
              <a:t> wave pairing with gap nodes or minima</a:t>
            </a:r>
          </a:p>
          <a:p>
            <a:pPr algn="l">
              <a:lnSpc>
                <a:spcPct val="150000"/>
              </a:lnSpc>
              <a:defRPr sz="4200">
                <a:solidFill>
                  <a:srgbClr val="0433FF"/>
                </a:solidFill>
              </a:defRPr>
            </a:pPr>
            <a:r>
              <a:t>along the zone diagonal direction</a:t>
            </a:r>
          </a:p>
        </p:txBody>
      </p:sp>
      <p:pic>
        <p:nvPicPr>
          <p:cNvPr id="307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64884" y="2985014"/>
            <a:ext cx="4926479" cy="33124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8" name="Rectangle"/>
          <p:cNvSpPr/>
          <p:nvPr/>
        </p:nvSpPr>
        <p:spPr>
          <a:xfrm>
            <a:off x="269806" y="9245516"/>
            <a:ext cx="1052650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09" name="Monte Carlo simulations of the pairing fields"/>
          <p:cNvSpPr txBox="1"/>
          <p:nvPr/>
        </p:nvSpPr>
        <p:spPr>
          <a:xfrm>
            <a:off x="334639" y="8821415"/>
            <a:ext cx="9802463" cy="6254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algn="l">
              <a:defRPr sz="3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Monte Carlo simulations of the pairing fields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2" name="Image" descr="Image"/>
          <p:cNvPicPr>
            <a:picLocks noChangeAspect="1"/>
          </p:cNvPicPr>
          <p:nvPr/>
        </p:nvPicPr>
        <p:blipFill>
          <a:blip r:embed="rId2"/>
          <a:srcRect l="1035" t="1335" r="1035" b="1335"/>
          <a:stretch>
            <a:fillRect/>
          </a:stretch>
        </p:blipFill>
        <p:spPr>
          <a:xfrm>
            <a:off x="1758330" y="1858764"/>
            <a:ext cx="8580540" cy="7483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3" name="Intrinsic reduction of the maximum Tc"/>
          <p:cNvSpPr txBox="1"/>
          <p:nvPr/>
        </p:nvSpPr>
        <p:spPr>
          <a:xfrm>
            <a:off x="3116201" y="100064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Intrinsic reduction of the maximum T</a:t>
            </a:r>
            <a:r>
              <a:rPr baseline="-6000"/>
              <a:t>c</a:t>
            </a:r>
            <a:endParaRPr baseline="-6000"/>
          </a:p>
        </p:txBody>
      </p:sp>
      <p:sp>
        <p:nvSpPr>
          <p:cNvPr id="314" name="bilayer: max Tc～70-90 K  vs 80 K…"/>
          <p:cNvSpPr txBox="1"/>
          <p:nvPr/>
        </p:nvSpPr>
        <p:spPr>
          <a:xfrm>
            <a:off x="11754519" y="9570090"/>
            <a:ext cx="9601891" cy="179133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20000"/>
              </a:lnSpc>
              <a:defRPr sz="4200">
                <a:solidFill>
                  <a:srgbClr val="FF2600"/>
                </a:solidFill>
              </a:defRPr>
            </a:pPr>
            <a:r>
              <a:t>bilayer: max T</a:t>
            </a:r>
            <a:r>
              <a:rPr baseline="-6000"/>
              <a:t>c</a:t>
            </a:r>
            <a:r>
              <a:t>～70-90 K  vs 80 K</a:t>
            </a:r>
          </a:p>
          <a:p>
            <a:pPr algn="l">
              <a:lnSpc>
                <a:spcPct val="120000"/>
              </a:lnSpc>
              <a:defRPr sz="4200">
                <a:solidFill>
                  <a:srgbClr val="0433FF"/>
                </a:solidFill>
              </a:defRPr>
            </a:pPr>
            <a:r>
              <a:t>trilayer: max T</a:t>
            </a:r>
            <a:r>
              <a:rPr baseline="-6000"/>
              <a:t>c</a:t>
            </a:r>
            <a:r>
              <a:t>～30-50 K  vs 30 (39?) K</a:t>
            </a:r>
          </a:p>
        </p:txBody>
      </p:sp>
      <p:sp>
        <p:nvSpPr>
          <p:cNvPr id="315" name="Taking J～150 meV ?"/>
          <p:cNvSpPr txBox="1"/>
          <p:nvPr/>
        </p:nvSpPr>
        <p:spPr>
          <a:xfrm>
            <a:off x="4717568" y="10019670"/>
            <a:ext cx="5165269" cy="892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4200">
                <a:solidFill>
                  <a:srgbClr val="0433FF"/>
                </a:solidFill>
              </a:defRPr>
            </a:lvl1pPr>
          </a:lstStyle>
          <a:p>
            <a:r>
              <a:t>Taking J～150 meV ?</a:t>
            </a:r>
          </a:p>
        </p:txBody>
      </p:sp>
      <p:sp>
        <p:nvSpPr>
          <p:cNvPr id="316" name="Arrow"/>
          <p:cNvSpPr/>
          <p:nvPr/>
        </p:nvSpPr>
        <p:spPr>
          <a:xfrm>
            <a:off x="9980575" y="9830758"/>
            <a:ext cx="1515322" cy="1270001"/>
          </a:xfrm>
          <a:prstGeom prst="rightArrow">
            <a:avLst>
              <a:gd name="adj1" fmla="val 32000"/>
              <a:gd name="adj2" fmla="val 64000"/>
            </a:avLst>
          </a:prstGeom>
          <a:blipFill>
            <a:blip r:embed="rId3"/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17" name="Maximum Tc/J ~ 0.04-0.05 for bilayer"/>
          <p:cNvSpPr txBox="1"/>
          <p:nvPr/>
        </p:nvSpPr>
        <p:spPr>
          <a:xfrm>
            <a:off x="10499239" y="3376234"/>
            <a:ext cx="8011990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6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Maximum T</a:t>
            </a:r>
            <a:r>
              <a:rPr baseline="-6000"/>
              <a:t>c</a:t>
            </a:r>
            <a:r>
              <a:t>/J ~ 0.04-0.05 for bilayer</a:t>
            </a:r>
          </a:p>
        </p:txBody>
      </p:sp>
      <p:sp>
        <p:nvSpPr>
          <p:cNvPr id="318" name="Maximum Tc/J ~ 0.02-0.03 for trilayer"/>
          <p:cNvSpPr txBox="1"/>
          <p:nvPr/>
        </p:nvSpPr>
        <p:spPr>
          <a:xfrm>
            <a:off x="10473790" y="5256212"/>
            <a:ext cx="8062888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600" b="1">
                <a:solidFill>
                  <a:srgbClr val="0433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Maximum T</a:t>
            </a:r>
            <a:r>
              <a:rPr baseline="-6000"/>
              <a:t>c</a:t>
            </a:r>
            <a:r>
              <a:t>/J ~ 0.02-0.03 for trilayer</a:t>
            </a:r>
          </a:p>
        </p:txBody>
      </p:sp>
      <p:sp>
        <p:nvSpPr>
          <p:cNvPr id="319" name="RIXS &amp; INS"/>
          <p:cNvSpPr txBox="1"/>
          <p:nvPr/>
        </p:nvSpPr>
        <p:spPr>
          <a:xfrm>
            <a:off x="1385761" y="10076820"/>
            <a:ext cx="3318104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marL="345440" indent="-345440" algn="l">
              <a:buSzPct val="65000"/>
              <a:buBlip>
                <a:blip r:embed="rId4"/>
              </a:buBlip>
              <a:defRPr sz="4200"/>
            </a:lvl1pPr>
          </a:lstStyle>
          <a:p>
            <a:r>
              <a:t> RIXS &amp; INS</a:t>
            </a:r>
          </a:p>
        </p:txBody>
      </p:sp>
      <p:sp>
        <p:nvSpPr>
          <p:cNvPr id="320" name="Contrary to cuprates where Tc is of record high in trilayer structures."/>
          <p:cNvSpPr txBox="1"/>
          <p:nvPr/>
        </p:nvSpPr>
        <p:spPr>
          <a:xfrm>
            <a:off x="15468265" y="6838467"/>
            <a:ext cx="8433258" cy="14128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algn="l">
              <a:defRPr sz="4200"/>
            </a:pPr>
            <a:r>
              <a:t>Contrary to cuprates where T</a:t>
            </a:r>
            <a:r>
              <a:rPr baseline="-6000"/>
              <a:t>c</a:t>
            </a:r>
            <a:r>
              <a:t> is of record high in trilayer structures.</a:t>
            </a:r>
          </a:p>
        </p:txBody>
      </p:sp>
      <p:sp>
        <p:nvSpPr>
          <p:cNvPr id="321" name="Maybe further reduced by layer imbalance &amp; smaller J?"/>
          <p:cNvSpPr txBox="1"/>
          <p:nvPr/>
        </p:nvSpPr>
        <p:spPr>
          <a:xfrm>
            <a:off x="13870525" y="11466232"/>
            <a:ext cx="10294094" cy="6254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algn="l">
              <a:defRPr sz="3200"/>
            </a:lvl1pPr>
          </a:lstStyle>
          <a:p>
            <a:r>
              <a:t>Maybe further reduced by layer imbalance &amp; smaller J?</a:t>
            </a:r>
          </a:p>
        </p:txBody>
      </p:sp>
      <p:sp>
        <p:nvSpPr>
          <p:cNvPr id="322" name="Rectangle"/>
          <p:cNvSpPr/>
          <p:nvPr/>
        </p:nvSpPr>
        <p:spPr>
          <a:xfrm>
            <a:off x="1591660" y="1640841"/>
            <a:ext cx="1052650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23" name="DL Feng et al."/>
          <p:cNvSpPr txBox="1"/>
          <p:nvPr/>
        </p:nvSpPr>
        <p:spPr>
          <a:xfrm>
            <a:off x="563603" y="10913890"/>
            <a:ext cx="2548637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DL Feng et al.</a:t>
            </a:r>
          </a:p>
        </p:txBody>
      </p:sp>
      <p:sp>
        <p:nvSpPr>
          <p:cNvPr id="324" name="M Wang et al."/>
          <p:cNvSpPr txBox="1"/>
          <p:nvPr/>
        </p:nvSpPr>
        <p:spPr>
          <a:xfrm>
            <a:off x="3746176" y="10913890"/>
            <a:ext cx="2491868" cy="6000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000" i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 Wang et al.</a:t>
            </a:r>
          </a:p>
        </p:txBody>
      </p:sp>
      <p:sp>
        <p:nvSpPr>
          <p:cNvPr id="325" name="Q. Qin, J. Wang, &amp; YF, The Innov. Mater. 2, 100102 (2024)"/>
          <p:cNvSpPr txBox="1"/>
          <p:nvPr/>
        </p:nvSpPr>
        <p:spPr>
          <a:xfrm>
            <a:off x="13431662" y="1791270"/>
            <a:ext cx="10592740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Q. Qin, J. Wang, &amp; YF, The Innov. Mater. 2, 100102 (2024)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8" name="Decomposition of interlayer pairing superconductivity (L≥4)"/>
          <p:cNvSpPr txBox="1"/>
          <p:nvPr/>
        </p:nvSpPr>
        <p:spPr>
          <a:xfrm>
            <a:off x="1669652" y="151852"/>
            <a:ext cx="21044695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Decomposition of interlayer pairing superconductivity (L≥4)</a:t>
            </a:r>
          </a:p>
        </p:txBody>
      </p:sp>
      <p:sp>
        <p:nvSpPr>
          <p:cNvPr id="329" name="YF, Phys. Rev. B 110, 104507 (2024)"/>
          <p:cNvSpPr txBox="1"/>
          <p:nvPr/>
        </p:nvSpPr>
        <p:spPr>
          <a:xfrm>
            <a:off x="17120136" y="12877706"/>
            <a:ext cx="6737224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YF, Phys. Rev. B 110, 104507 (2024)</a:t>
            </a:r>
          </a:p>
        </p:txBody>
      </p:sp>
      <p:pic>
        <p:nvPicPr>
          <p:cNvPr id="330" name="fig1.pdf" descr="fig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95" y="2394095"/>
            <a:ext cx="5673500" cy="50010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0" y="7604921"/>
            <a:ext cx="9010351" cy="260648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2" name="Rectangle"/>
          <p:cNvSpPr/>
          <p:nvPr/>
        </p:nvSpPr>
        <p:spPr>
          <a:xfrm>
            <a:off x="22113676" y="7102140"/>
            <a:ext cx="1178882" cy="8159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33" name="Rectangle"/>
          <p:cNvSpPr/>
          <p:nvPr/>
        </p:nvSpPr>
        <p:spPr>
          <a:xfrm>
            <a:off x="17585621" y="6543427"/>
            <a:ext cx="711531" cy="4812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34" name="Multilayer t-V-J model:"/>
          <p:cNvSpPr txBox="1"/>
          <p:nvPr/>
        </p:nvSpPr>
        <p:spPr>
          <a:xfrm>
            <a:off x="166020" y="1892888"/>
            <a:ext cx="5150107" cy="6889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marL="345440" indent="-345440" algn="l">
              <a:buSzPct val="65000"/>
              <a:buBlip>
                <a:blip r:embed="rId4"/>
              </a:buBlip>
              <a:defRPr sz="3600"/>
            </a:lvl1pPr>
          </a:lstStyle>
          <a:p>
            <a:r>
              <a:t> Multilayer t-V-J model:</a:t>
            </a:r>
          </a:p>
        </p:txBody>
      </p:sp>
      <p:pic>
        <p:nvPicPr>
          <p:cNvPr id="33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4578" y="1946634"/>
            <a:ext cx="3281307" cy="6673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9908" y="3030282"/>
            <a:ext cx="10156342" cy="72990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7" name="Decompose into bilayer blocks (plus one trilayer for odd L)…"/>
          <p:cNvSpPr txBox="1"/>
          <p:nvPr/>
        </p:nvSpPr>
        <p:spPr>
          <a:xfrm>
            <a:off x="1843840" y="10804528"/>
            <a:ext cx="14498077" cy="23907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Decompose into bilayer blocks (plus one trilayer for odd L)</a:t>
            </a:r>
          </a:p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Maximum T</a:t>
            </a:r>
            <a:r>
              <a:rPr baseline="-6000"/>
              <a:t>c</a:t>
            </a:r>
            <a:r>
              <a:t> possibly determined by the blayer blocks</a:t>
            </a:r>
          </a:p>
          <a:p>
            <a:pPr marL="233680" indent="-233680" algn="just" defTabSz="1285875">
              <a:buSzPct val="100000"/>
              <a:buChar char="➢"/>
              <a:defRPr sz="4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 Possible high T</a:t>
            </a:r>
            <a:r>
              <a:rPr baseline="-6000"/>
              <a:t>c</a:t>
            </a:r>
            <a:r>
              <a:t> under valence tuning</a:t>
            </a:r>
          </a:p>
        </p:txBody>
      </p:sp>
      <p:sp>
        <p:nvSpPr>
          <p:cNvPr id="338" name="Rectangle"/>
          <p:cNvSpPr/>
          <p:nvPr/>
        </p:nvSpPr>
        <p:spPr>
          <a:xfrm>
            <a:off x="8369681" y="9142141"/>
            <a:ext cx="1052650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39" name="Rectangle"/>
          <p:cNvSpPr/>
          <p:nvPr/>
        </p:nvSpPr>
        <p:spPr>
          <a:xfrm>
            <a:off x="9312294" y="8913992"/>
            <a:ext cx="1052650" cy="926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pic>
        <p:nvPicPr>
          <p:cNvPr id="340" name="Image" descr="Image"/>
          <p:cNvPicPr>
            <a:picLocks noChangeAspect="1"/>
          </p:cNvPicPr>
          <p:nvPr/>
        </p:nvPicPr>
        <p:blipFill>
          <a:blip r:embed="rId6"/>
          <a:srcRect l="34517" t="21788" r="39441" b="26219"/>
          <a:stretch>
            <a:fillRect/>
          </a:stretch>
        </p:blipFill>
        <p:spPr>
          <a:xfrm>
            <a:off x="20612985" y="2898867"/>
            <a:ext cx="2644884" cy="37949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1" name="Image" descr="Image"/>
          <p:cNvPicPr>
            <a:picLocks noChangeAspect="1"/>
          </p:cNvPicPr>
          <p:nvPr/>
        </p:nvPicPr>
        <p:blipFill>
          <a:blip r:embed="rId6"/>
          <a:srcRect l="34517" t="38713" r="39441" b="26219"/>
          <a:stretch>
            <a:fillRect/>
          </a:stretch>
        </p:blipFill>
        <p:spPr>
          <a:xfrm>
            <a:off x="20701885" y="6151978"/>
            <a:ext cx="2644884" cy="25595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2" name="Image" descr="Image"/>
          <p:cNvPicPr>
            <a:picLocks noChangeAspect="1"/>
          </p:cNvPicPr>
          <p:nvPr/>
        </p:nvPicPr>
        <p:blipFill>
          <a:blip r:embed="rId6"/>
          <a:srcRect l="34517" t="38713" r="39441" b="26219"/>
          <a:stretch>
            <a:fillRect/>
          </a:stretch>
        </p:blipFill>
        <p:spPr>
          <a:xfrm>
            <a:off x="20689185" y="8109800"/>
            <a:ext cx="2644884" cy="25595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3" name="To minimize the free energy"/>
          <p:cNvSpPr txBox="1"/>
          <p:nvPr/>
        </p:nvSpPr>
        <p:spPr>
          <a:xfrm>
            <a:off x="8519290" y="1777089"/>
            <a:ext cx="8433259" cy="7778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algn="l">
              <a:defRPr sz="4200">
                <a:solidFill>
                  <a:srgbClr val="FF2600"/>
                </a:solidFill>
              </a:defRPr>
            </a:lvl1pPr>
          </a:lstStyle>
          <a:p>
            <a:r>
              <a:t>To minimize the free energy</a:t>
            </a:r>
          </a:p>
        </p:txBody>
      </p:sp>
      <p:sp>
        <p:nvSpPr>
          <p:cNvPr id="344" name="Rectangle"/>
          <p:cNvSpPr/>
          <p:nvPr/>
        </p:nvSpPr>
        <p:spPr>
          <a:xfrm>
            <a:off x="20625685" y="8970307"/>
            <a:ext cx="2895943" cy="1703757"/>
          </a:xfrm>
          <a:prstGeom prst="rect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45" name="Rectangle"/>
          <p:cNvSpPr/>
          <p:nvPr/>
        </p:nvSpPr>
        <p:spPr>
          <a:xfrm>
            <a:off x="20646615" y="6973819"/>
            <a:ext cx="2895943" cy="1703756"/>
          </a:xfrm>
          <a:prstGeom prst="rect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46" name="Rectangle"/>
          <p:cNvSpPr/>
          <p:nvPr/>
        </p:nvSpPr>
        <p:spPr>
          <a:xfrm>
            <a:off x="20625685" y="5050208"/>
            <a:ext cx="2895943" cy="1703757"/>
          </a:xfrm>
          <a:prstGeom prst="rect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47" name="Rectangle"/>
          <p:cNvSpPr/>
          <p:nvPr/>
        </p:nvSpPr>
        <p:spPr>
          <a:xfrm>
            <a:off x="20563602" y="2976901"/>
            <a:ext cx="2895943" cy="1703756"/>
          </a:xfrm>
          <a:prstGeom prst="rect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0" name="Emergent superconducting stripes in two-orbital superconductors"/>
          <p:cNvSpPr txBox="1"/>
          <p:nvPr/>
        </p:nvSpPr>
        <p:spPr>
          <a:xfrm>
            <a:off x="1669652" y="151852"/>
            <a:ext cx="21044695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Emergent superconducting stripes in two-orbital superconductors</a:t>
            </a:r>
          </a:p>
        </p:txBody>
      </p:sp>
      <p:pic>
        <p:nvPicPr>
          <p:cNvPr id="35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2" y="6758099"/>
            <a:ext cx="9136990" cy="30690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34" y="2068661"/>
            <a:ext cx="4618356" cy="45980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42" y="1589053"/>
            <a:ext cx="8716665" cy="55572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6236" y="1589053"/>
            <a:ext cx="7520847" cy="98367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407" y="7444299"/>
            <a:ext cx="6883185" cy="400085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6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6485" y="10166984"/>
            <a:ext cx="3314701" cy="32512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57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443" y="9918619"/>
            <a:ext cx="7520847" cy="374793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8" name="Q. Qin &amp; YF, arXiv:2508.14632 (2025)"/>
          <p:cNvSpPr txBox="1"/>
          <p:nvPr/>
        </p:nvSpPr>
        <p:spPr>
          <a:xfrm>
            <a:off x="16957361" y="12745203"/>
            <a:ext cx="6924981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Q. Qin &amp; YF, arXiv:2508.14632 (2025)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What can we learn from nickelates?"/>
          <p:cNvSpPr txBox="1"/>
          <p:nvPr/>
        </p:nvSpPr>
        <p:spPr>
          <a:xfrm>
            <a:off x="3104555" y="4896962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What can we learn from nickelates?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Momentum-space vs. real-space pairing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Momentum-space vs. real-space pairing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363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405" y="2486136"/>
            <a:ext cx="5587742" cy="63154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05" y="4293356"/>
            <a:ext cx="6736352" cy="34087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6379" y="4253726"/>
            <a:ext cx="7751144" cy="34880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297" y="9782140"/>
            <a:ext cx="19053406" cy="30379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70" y="1583691"/>
            <a:ext cx="12109825" cy="96069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tatic auxiliary-field Monte Carlo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Static auxiliary-field Monte Carlo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371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33" y="1725670"/>
            <a:ext cx="15796282" cy="306306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75" y="5244720"/>
            <a:ext cx="17637684" cy="571361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86" y="11185904"/>
            <a:ext cx="15395611" cy="22344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9724" y="12737519"/>
            <a:ext cx="8112914" cy="9562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Image" descr="Image"/>
          <p:cNvPicPr>
            <a:picLocks noChangeAspect="1"/>
          </p:cNvPicPr>
          <p:nvPr/>
        </p:nvPicPr>
        <p:blipFill>
          <a:blip r:embed="rId6"/>
          <a:srcRect l="1035" t="1335" r="1035" b="1335"/>
          <a:stretch>
            <a:fillRect/>
          </a:stretch>
        </p:blipFill>
        <p:spPr>
          <a:xfrm>
            <a:off x="18314162" y="6068547"/>
            <a:ext cx="5730000" cy="49975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59571" y="1843479"/>
            <a:ext cx="3439265" cy="388716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an we further improve the maximum Tc?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Can we further improve the maximum T</a:t>
            </a:r>
            <a:r>
              <a:rPr baseline="-6000"/>
              <a:t>c</a:t>
            </a:r>
            <a:r>
              <a:t>?</a:t>
            </a:r>
          </a:p>
        </p:txBody>
      </p:sp>
      <p:pic>
        <p:nvPicPr>
          <p:cNvPr id="380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1" name="Q. Qin &amp; YF, npj Quantum Mater. 10, 13 (2025)"/>
          <p:cNvSpPr txBox="1"/>
          <p:nvPr/>
        </p:nvSpPr>
        <p:spPr>
          <a:xfrm>
            <a:off x="15478443" y="12844453"/>
            <a:ext cx="8619567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Q. Qin &amp; YF, npj Quantum Mater. 10, 13 (2025)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382" name="maximum Tc ~ 0.04-0.07 J…"/>
          <p:cNvSpPr txBox="1"/>
          <p:nvPr/>
        </p:nvSpPr>
        <p:spPr>
          <a:xfrm>
            <a:off x="1016078" y="10890915"/>
            <a:ext cx="14983207" cy="214122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lnSpc>
                <a:spcPct val="120000"/>
              </a:lnSpc>
              <a:defRPr sz="5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maximum T</a:t>
            </a:r>
            <a:r>
              <a:rPr baseline="-6000"/>
              <a:t>c</a:t>
            </a:r>
            <a:r>
              <a:t> ~ 0.04-0.07 J</a:t>
            </a:r>
          </a:p>
          <a:p>
            <a:pPr defTabSz="914400">
              <a:lnSpc>
                <a:spcPct val="120000"/>
              </a:lnSpc>
              <a:defRPr sz="5200">
                <a:solidFill>
                  <a:srgbClr val="FF2600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T</a:t>
            </a:r>
            <a:r>
              <a:rPr baseline="-6000"/>
              <a:t>c</a:t>
            </a:r>
            <a:r>
              <a:t>=300 K requires </a:t>
            </a:r>
            <a:r>
              <a:rPr>
                <a:solidFill>
                  <a:srgbClr val="0433FF"/>
                </a:solidFill>
              </a:rPr>
              <a:t>J &gt; 400-700 meV</a:t>
            </a:r>
            <a:r>
              <a:t> (@ optimal t/J)</a:t>
            </a:r>
          </a:p>
        </p:txBody>
      </p:sp>
      <p:pic>
        <p:nvPicPr>
          <p:cNvPr id="38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52" y="3805556"/>
            <a:ext cx="19022913" cy="70279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4" name="Infinite-layer nickelates could host higher Tc ? (new 40 K samples? or pressure tuning?)…"/>
          <p:cNvSpPr txBox="1"/>
          <p:nvPr/>
        </p:nvSpPr>
        <p:spPr>
          <a:xfrm>
            <a:off x="901341" y="1759900"/>
            <a:ext cx="21473805" cy="179133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marL="567690" indent="-567690" algn="l" defTabSz="1285875">
              <a:lnSpc>
                <a:spcPct val="120000"/>
              </a:lnSpc>
              <a:buSzPct val="45000"/>
              <a:buBlip>
                <a:blip r:embed="rId3"/>
              </a:buBlip>
              <a:defRPr sz="4200">
                <a:solidFill>
                  <a:srgbClr val="FF2600"/>
                </a:solidFill>
                <a:latin typeface="Yuanti SC Bold"/>
                <a:ea typeface="Yuanti SC Bold"/>
                <a:cs typeface="Yuanti SC Bold"/>
                <a:sym typeface="Yuanti SC Bold"/>
              </a:defRPr>
            </a:pPr>
            <a:r>
              <a:t>Infinite-layer nickelates could host higher T</a:t>
            </a:r>
            <a:r>
              <a:rPr baseline="-6000"/>
              <a:t>c</a:t>
            </a:r>
            <a:r>
              <a:t> ?</a:t>
            </a:r>
            <a:r>
              <a:rPr baseline="-6000"/>
              <a:t> </a:t>
            </a:r>
            <a:r>
              <a:rPr>
                <a:solidFill>
                  <a:srgbClr val="0433FF"/>
                </a:solidFill>
              </a:rPr>
              <a:t>(new 40 K samples? or pressure tuning?)</a:t>
            </a:r>
            <a:endParaRPr>
              <a:solidFill>
                <a:srgbClr val="0433FF"/>
              </a:solidFill>
            </a:endParaRPr>
          </a:p>
          <a:p>
            <a:pPr marL="567690" indent="-567690" algn="l" defTabSz="1285875">
              <a:lnSpc>
                <a:spcPct val="120000"/>
              </a:lnSpc>
              <a:buSzPct val="45000"/>
              <a:buBlip>
                <a:blip r:embed="rId3"/>
              </a:buBlip>
              <a:defRPr sz="4200">
                <a:latin typeface="Yuanti SC Bold"/>
                <a:ea typeface="Yuanti SC Bold"/>
                <a:cs typeface="Yuanti SC Bold"/>
                <a:sym typeface="Yuanti SC Bold"/>
              </a:defRPr>
            </a:pPr>
            <a:r>
              <a:t>Most iron-based SC (except 11 &amp; 1111) also has low ratios, why?</a:t>
            </a:r>
          </a:p>
        </p:txBody>
      </p:sp>
      <p:sp>
        <p:nvSpPr>
          <p:cNvPr id="385" name="Oval"/>
          <p:cNvSpPr/>
          <p:nvPr/>
        </p:nvSpPr>
        <p:spPr>
          <a:xfrm>
            <a:off x="13624594" y="7522468"/>
            <a:ext cx="626937" cy="1667426"/>
          </a:xfrm>
          <a:prstGeom prst="ellipse">
            <a:avLst/>
          </a:prstGeom>
          <a:ln w="25400">
            <a:solidFill>
              <a:srgbClr val="000000"/>
            </a:solidFill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71437" tIns="71437" rIns="71437" bIns="71437" anchor="ctr"/>
          <a:lstStyle/>
          <a:p>
            <a:pPr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86" name="Line"/>
          <p:cNvSpPr/>
          <p:nvPr/>
        </p:nvSpPr>
        <p:spPr>
          <a:xfrm flipH="1" flipV="1">
            <a:off x="14376861" y="8358055"/>
            <a:ext cx="5117245" cy="272011"/>
          </a:xfrm>
          <a:prstGeom prst="line">
            <a:avLst/>
          </a:prstGeom>
          <a:ln w="76200">
            <a:solidFill>
              <a:schemeClr val="accent6">
                <a:satOff val="24555"/>
                <a:lumOff val="22232"/>
              </a:schemeClr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87" name="RNiO2"/>
          <p:cNvSpPr txBox="1"/>
          <p:nvPr/>
        </p:nvSpPr>
        <p:spPr>
          <a:xfrm>
            <a:off x="19557956" y="8202210"/>
            <a:ext cx="1686844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4200" b="1">
                <a:solidFill>
                  <a:schemeClr val="accent6">
                    <a:satOff val="24555"/>
                    <a:lumOff val="2223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RNiO</a:t>
            </a:r>
            <a:r>
              <a:rPr baseline="-6000"/>
              <a:t>2</a:t>
            </a:r>
            <a:endParaRPr baseline="-6000"/>
          </a:p>
        </p:txBody>
      </p:sp>
      <p:sp>
        <p:nvSpPr>
          <p:cNvPr id="388" name="X"/>
          <p:cNvSpPr txBox="1"/>
          <p:nvPr/>
        </p:nvSpPr>
        <p:spPr>
          <a:xfrm>
            <a:off x="16757020" y="6577034"/>
            <a:ext cx="511350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4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X</a:t>
            </a:r>
          </a:p>
        </p:txBody>
      </p:sp>
      <p:sp>
        <p:nvSpPr>
          <p:cNvPr id="389" name="Line"/>
          <p:cNvSpPr/>
          <p:nvPr/>
        </p:nvSpPr>
        <p:spPr>
          <a:xfrm flipH="1">
            <a:off x="17224004" y="6963604"/>
            <a:ext cx="2388067" cy="1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sp>
        <p:nvSpPr>
          <p:cNvPr id="390" name="La3Ni2O7 ?"/>
          <p:cNvSpPr txBox="1"/>
          <p:nvPr/>
        </p:nvSpPr>
        <p:spPr>
          <a:xfrm>
            <a:off x="19646856" y="6523866"/>
            <a:ext cx="2744268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4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La</a:t>
            </a:r>
            <a:r>
              <a:rPr baseline="-6000"/>
              <a:t>3</a:t>
            </a:r>
            <a:r>
              <a:t>Ni</a:t>
            </a:r>
            <a:r>
              <a:rPr baseline="-6000"/>
              <a:t>2</a:t>
            </a:r>
            <a:r>
              <a:t>O</a:t>
            </a:r>
            <a:r>
              <a:rPr baseline="-6000"/>
              <a:t>7 </a:t>
            </a:r>
            <a:r>
              <a:t>?</a:t>
            </a:r>
          </a:p>
        </p:txBody>
      </p:sp>
      <p:sp>
        <p:nvSpPr>
          <p:cNvPr id="391" name="X"/>
          <p:cNvSpPr txBox="1"/>
          <p:nvPr/>
        </p:nvSpPr>
        <p:spPr>
          <a:xfrm>
            <a:off x="13676039" y="6469062"/>
            <a:ext cx="511350" cy="7778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>
              <a:defRPr sz="4200" b="1">
                <a:solidFill>
                  <a:schemeClr val="accent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X</a:t>
            </a:r>
          </a:p>
        </p:txBody>
      </p:sp>
      <p:sp>
        <p:nvSpPr>
          <p:cNvPr id="392" name="Line"/>
          <p:cNvSpPr/>
          <p:nvPr/>
        </p:nvSpPr>
        <p:spPr>
          <a:xfrm flipH="1">
            <a:off x="14034666" y="2502572"/>
            <a:ext cx="4466351" cy="4038827"/>
          </a:xfrm>
          <a:prstGeom prst="line">
            <a:avLst/>
          </a:prstGeom>
          <a:ln w="76200">
            <a:solidFill>
              <a:srgbClr val="0433FF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200"/>
            </a:pPr>
          </a:p>
        </p:txBody>
      </p:sp>
      <p:pic>
        <p:nvPicPr>
          <p:cNvPr id="39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778" y="3989268"/>
            <a:ext cx="6043520" cy="3876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6441" y="10772851"/>
            <a:ext cx="5936372" cy="96572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135" y="72142"/>
            <a:ext cx="20075730" cy="1357171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visit the infinite-layer nickelates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Revisit the infinite-layer nickelates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399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85" y="1795220"/>
            <a:ext cx="11017383" cy="23222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77" y="4407153"/>
            <a:ext cx="7831169" cy="87204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058" y="6566851"/>
            <a:ext cx="3179958" cy="2230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1809" y="1412375"/>
            <a:ext cx="5852535" cy="48425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4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2329" y="5847674"/>
            <a:ext cx="10342466" cy="68216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627" y="12818173"/>
            <a:ext cx="2903058" cy="79380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6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36354" y="12836853"/>
            <a:ext cx="7003444" cy="90884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visit the cuprate superconductors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Revisit the cuprate superconductors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09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74" y="1839941"/>
            <a:ext cx="21281984" cy="42023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77" y="6566337"/>
            <a:ext cx="20076526" cy="70449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2" name="Q. Qin &amp; YF, npj Quantum Mater. 10, 13 (2025)"/>
          <p:cNvSpPr txBox="1"/>
          <p:nvPr/>
        </p:nvSpPr>
        <p:spPr>
          <a:xfrm>
            <a:off x="15478443" y="12844453"/>
            <a:ext cx="8619567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Q. Qin &amp; YF, npj Quantum Mater. 10, 13 (2025)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visit the iron-based superconductors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Revisit the iron-based superconductors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15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1" y="1874618"/>
            <a:ext cx="14095866" cy="218565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6019" y="1868746"/>
            <a:ext cx="8897779" cy="224819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127" y="5871504"/>
            <a:ext cx="18174890" cy="51577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9" name="Q. Qin &amp; YF, npj Quantum Mater. 10, 13 (2025)"/>
          <p:cNvSpPr txBox="1"/>
          <p:nvPr/>
        </p:nvSpPr>
        <p:spPr>
          <a:xfrm>
            <a:off x="15478443" y="12844453"/>
            <a:ext cx="8619567" cy="625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Q. Qin &amp; YF, npj Quantum Mater. 10, 13 (2025)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Can we achieve the room-temperature SC?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Can we achieve the room-temperature SC?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2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43" y="1583691"/>
            <a:ext cx="8391816" cy="67072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742" y="7625574"/>
            <a:ext cx="16719179" cy="61049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267" y="1634525"/>
            <a:ext cx="8913641" cy="194131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1818" y="3476364"/>
            <a:ext cx="11835027" cy="21784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303" y="5427807"/>
            <a:ext cx="10883413" cy="204232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Materials design from real-space pairing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Materials design from real-space pairing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30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030" y="1583691"/>
            <a:ext cx="10593316" cy="5747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6910" y="1916550"/>
            <a:ext cx="2073672" cy="58466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80" y="7827604"/>
            <a:ext cx="18455415" cy="32568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936" y="11582578"/>
            <a:ext cx="11789356" cy="184208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ummary"/>
          <p:cNvSpPr txBox="1"/>
          <p:nvPr/>
        </p:nvSpPr>
        <p:spPr>
          <a:xfrm>
            <a:off x="3104555" y="157215"/>
            <a:ext cx="18174890" cy="9302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defTabSz="642620">
              <a:defRPr sz="5200" b="1">
                <a:latin typeface="Helvetica"/>
                <a:ea typeface="Helvetica"/>
                <a:cs typeface="Helvetica"/>
                <a:sym typeface="Helvetica"/>
              </a:defRPr>
            </a:pPr>
            <a:r>
              <a:t>Summary</a:t>
            </a:r>
            <a:r>
              <a:rPr sz="1200" b="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endParaRPr sz="1200" b="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3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185" y="1165602"/>
            <a:ext cx="24478370" cy="3399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q The minimal effective model: Two-orbital t-V-J model…"/>
          <p:cNvSpPr txBox="1"/>
          <p:nvPr/>
        </p:nvSpPr>
        <p:spPr>
          <a:xfrm>
            <a:off x="2180015" y="1931812"/>
            <a:ext cx="20023970" cy="7794620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lnSpc>
                <a:spcPct val="150000"/>
              </a:lnSpc>
              <a:defRPr sz="620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The minimal effective model: Two-orbital t-V-J model</a:t>
            </a:r>
          </a:p>
          <a:p>
            <a:pPr algn="l" defTabSz="457200">
              <a:lnSpc>
                <a:spcPct val="150000"/>
              </a:lnSpc>
              <a:defRPr sz="6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Hund: important for flatband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Pairing: Two-component theory, anisotropic s</a:t>
            </a:r>
            <a:r>
              <a:rPr baseline="32000"/>
              <a:t>±</a:t>
            </a:r>
            <a:r>
              <a:t>-wave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Maximum T</a:t>
            </a:r>
            <a:r>
              <a:rPr baseline="-6000"/>
              <a:t>c</a:t>
            </a:r>
            <a:r>
              <a:t>: ~0.04-0.05 J (bilayer); 0.02-0.03 J (trilayer)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solidFill>
                  <a:srgbClr val="0432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solidFill>
                  <a:srgbClr val="000000"/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Non-Fermi liquid normal state: Near optimal doping</a:t>
            </a: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algn="l" defTabSz="457200">
              <a:lnSpc>
                <a:spcPct val="150000"/>
              </a:lnSpc>
              <a:defRPr sz="6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>
                <a:latin typeface="Wingdings" panose="05000000000000000000"/>
                <a:ea typeface="Wingdings" panose="05000000000000000000"/>
                <a:cs typeface="Wingdings" panose="05000000000000000000"/>
                <a:sym typeface="Wingdings" panose="05000000000000000000"/>
              </a:rPr>
              <a:t>q </a:t>
            </a:r>
            <a:r>
              <a:t>d</a:t>
            </a:r>
            <a:r>
              <a:rPr baseline="-6000"/>
              <a:t>z2</a:t>
            </a:r>
            <a:r>
              <a:t> metallization: crucial (Jiangfan Wang’s talk)</a:t>
            </a:r>
          </a:p>
        </p:txBody>
      </p:sp>
      <p:sp>
        <p:nvSpPr>
          <p:cNvPr id="439" name="Maximum Tc ~ 0.04-0.07 J…"/>
          <p:cNvSpPr txBox="1"/>
          <p:nvPr/>
        </p:nvSpPr>
        <p:spPr>
          <a:xfrm>
            <a:off x="1647367" y="10570753"/>
            <a:ext cx="21089265" cy="214122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lnSpc>
                <a:spcPct val="120000"/>
              </a:lnSpc>
              <a:defRPr sz="5200">
                <a:solidFill>
                  <a:srgbClr val="0433FF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Maximum T</a:t>
            </a:r>
            <a:r>
              <a:rPr baseline="-6000"/>
              <a:t>c</a:t>
            </a:r>
            <a:r>
              <a:t> ~ 0.04-0.07 J</a:t>
            </a:r>
          </a:p>
          <a:p>
            <a:pPr defTabSz="914400">
              <a:lnSpc>
                <a:spcPct val="120000"/>
              </a:lnSpc>
              <a:defRPr sz="5200">
                <a:solidFill>
                  <a:srgbClr val="FF2600"/>
                </a:solidFill>
                <a:latin typeface="Yuanti SC Regular"/>
                <a:ea typeface="Yuanti SC Regular"/>
                <a:cs typeface="Yuanti SC Regular"/>
                <a:sym typeface="Yuanti SC Regular"/>
              </a:defRPr>
            </a:pPr>
            <a:r>
              <a:t>Real-space route for materials design of more high-T</a:t>
            </a:r>
            <a:r>
              <a:rPr baseline="-6000"/>
              <a:t>c</a:t>
            </a:r>
            <a:r>
              <a:t> superconductors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6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4804</Words>
  <Application>WPS 演示</Application>
  <PresentationFormat>Custom</PresentationFormat>
  <Paragraphs>202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64" baseType="lpstr">
      <vt:lpstr>Arial</vt:lpstr>
      <vt:lpstr>宋体</vt:lpstr>
      <vt:lpstr>Wingdings</vt:lpstr>
      <vt:lpstr>Helvetica Light</vt:lpstr>
      <vt:lpstr>Gill Sans</vt:lpstr>
      <vt:lpstr>Gill Sans MT</vt:lpstr>
      <vt:lpstr>Helvetica</vt:lpstr>
      <vt:lpstr>Helvetica Neue</vt:lpstr>
      <vt:lpstr>Times Roman</vt:lpstr>
      <vt:lpstr>Times New Roman</vt:lpstr>
      <vt:lpstr>Wingdings</vt:lpstr>
      <vt:lpstr>Yuanti SC Regular</vt:lpstr>
      <vt:lpstr>Segoe Print</vt:lpstr>
      <vt:lpstr>STIX Two Math Regular</vt:lpstr>
      <vt:lpstr>Apple SD 산돌고딕 Neo 일반체</vt:lpstr>
      <vt:lpstr>Yuanti SC Bold</vt:lpstr>
      <vt:lpstr>KSOFB4AB0A6B</vt:lpstr>
      <vt:lpstr>KSOF7FC4CF2A</vt:lpstr>
      <vt:lpstr>KSOFE99145AC</vt:lpstr>
      <vt:lpstr>KSOF9F0CD940</vt:lpstr>
      <vt:lpstr>微软雅黑</vt:lpstr>
      <vt:lpstr>Arial Unicode MS</vt:lpstr>
      <vt:lpstr>BatangChe</vt:lpstr>
      <vt:lpstr>MS PGothic</vt:lpstr>
      <vt:lpstr>Calibri</vt:lpstr>
      <vt:lpstr>Apple SD 산돌고딕 Neo 일반체</vt:lpstr>
      <vt:lpstr>Gill Sans</vt:lpstr>
      <vt:lpstr>Helvetica</vt:lpstr>
      <vt:lpstr>Helvetica Light</vt:lpstr>
      <vt:lpstr>Helvetica Neue</vt:lpstr>
      <vt:lpstr>STIX Two Math Regular</vt:lpstr>
      <vt:lpstr>Times New Roman</vt:lpstr>
      <vt:lpstr>Times Roman</vt:lpstr>
      <vt:lpstr>Wingdings</vt:lpstr>
      <vt:lpstr>Yuanti SC Bold</vt:lpstr>
      <vt:lpstr>Yuanti SC Regular</vt:lpstr>
      <vt:lpstr>Helvetica LT Pro</vt:lpstr>
      <vt:lpstr>Saturday Sans Regular</vt:lpstr>
      <vt:lpstr>Oxford Regular</vt:lpstr>
      <vt:lpstr>Pink Apple</vt:lpstr>
      <vt:lpstr>Kata Bold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LokiH</cp:lastModifiedBy>
  <cp:revision>4</cp:revision>
  <dcterms:created xsi:type="dcterms:W3CDTF">2026-04-01T08:49:00Z</dcterms:created>
  <dcterms:modified xsi:type="dcterms:W3CDTF">2026-07-15T08:35:56Z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7AAC6BFE841B444381E97E2D0EA6BF2E_13</vt:lpwstr>
  </property>
</Properties>
</file>